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84" r:id="rId15"/>
    <p:sldId id="282" r:id="rId16"/>
    <p:sldId id="280" r:id="rId17"/>
    <p:sldId id="276" r:id="rId18"/>
    <p:sldId id="268" r:id="rId19"/>
    <p:sldId id="269" r:id="rId20"/>
    <p:sldId id="270" r:id="rId21"/>
    <p:sldId id="277" r:id="rId22"/>
    <p:sldId id="286" r:id="rId23"/>
    <p:sldId id="279" r:id="rId24"/>
    <p:sldId id="283" r:id="rId25"/>
    <p:sldId id="287" r:id="rId26"/>
    <p:sldId id="288" r:id="rId27"/>
    <p:sldId id="289" r:id="rId28"/>
    <p:sldId id="281" r:id="rId29"/>
    <p:sldId id="271" r:id="rId30"/>
    <p:sldId id="272" r:id="rId31"/>
    <p:sldId id="273" r:id="rId32"/>
    <p:sldId id="274" r:id="rId33"/>
    <p:sldId id="275" r:id="rId34"/>
    <p:sldId id="285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3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9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Expected Value vs. Threshold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Value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  <c:pt idx="5">
                  <c:v>0.25</c:v>
                </c:pt>
                <c:pt idx="6">
                  <c:v>0.30</c:v>
                </c:pt>
                <c:pt idx="7">
                  <c:v>0.35</c:v>
                </c:pt>
                <c:pt idx="8">
                  <c:v>0.40</c:v>
                </c:pt>
                <c:pt idx="9">
                  <c:v>0.45</c:v>
                </c:pt>
                <c:pt idx="10">
                  <c:v>0.50</c:v>
                </c:pt>
                <c:pt idx="11">
                  <c:v>0.55</c:v>
                </c:pt>
                <c:pt idx="12">
                  <c:v>0.60</c:v>
                </c:pt>
                <c:pt idx="13">
                  <c:v>0.65</c:v>
                </c:pt>
                <c:pt idx="14">
                  <c:v>0.70</c:v>
                </c:pt>
                <c:pt idx="15">
                  <c:v>0.75</c:v>
                </c:pt>
                <c:pt idx="16">
                  <c:v>0.80</c:v>
                </c:pt>
                <c:pt idx="17">
                  <c:v>0.85</c:v>
                </c:pt>
                <c:pt idx="18">
                  <c:v>0.90</c:v>
                </c:pt>
                <c:pt idx="19">
                  <c:v>0.95</c:v>
                </c:pt>
                <c:pt idx="20">
                  <c:v>1.00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-5000</c:v>
                </c:pt>
                <c:pt idx="1">
                  <c:v>-171.86678454435241</c:v>
                </c:pt>
                <c:pt idx="2">
                  <c:v>4466.9103711879943</c:v>
                </c:pt>
                <c:pt idx="3">
                  <c:v>8736.1033355218078</c:v>
                </c:pt>
                <c:pt idx="4">
                  <c:v>12473.299820181448</c:v>
                </c:pt>
                <c:pt idx="5">
                  <c:v>15541.732481105835</c:v>
                </c:pt>
                <c:pt idx="6">
                  <c:v>17836.871802128775</c:v>
                </c:pt>
                <c:pt idx="7">
                  <c:v>19291.464950898622</c:v>
                </c:pt>
                <c:pt idx="8">
                  <c:v>19878.777708477133</c:v>
                </c:pt>
                <c:pt idx="9">
                  <c:v>19613.883195072576</c:v>
                </c:pt>
                <c:pt idx="10">
                  <c:v>18552.935268752623</c:v>
                </c:pt>
                <c:pt idx="11">
                  <c:v>16790.461623025614</c:v>
                </c:pt>
                <c:pt idx="12">
                  <c:v>14454.807069795668</c:v>
                </c:pt>
                <c:pt idx="13">
                  <c:v>11701.94666469856</c:v>
                </c:pt>
                <c:pt idx="14">
                  <c:v>8707.9669137384371</c:v>
                </c:pt>
                <c:pt idx="15">
                  <c:v>5660.5775054215319</c:v>
                </c:pt>
                <c:pt idx="16">
                  <c:v>2750.0627461994118</c:v>
                </c:pt>
                <c:pt idx="17">
                  <c:v>160.10888619334037</c:v>
                </c:pt>
                <c:pt idx="18">
                  <c:v>-1941.0504951073908</c:v>
                </c:pt>
                <c:pt idx="19">
                  <c:v>-3408.7442055933298</c:v>
                </c:pt>
                <c:pt idx="20">
                  <c:v>-4128.8373300112908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F06-5046-887A-0654A4066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28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0" y="45720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5160" y="45720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0" y="45720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1000" y="45720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240" y="128016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95160" y="128016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98080" y="128016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01000" y="128016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92240" y="210312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95160" y="210312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98080" y="210312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01000" y="210312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292608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95160" y="292608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98080" y="292608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01000" y="292608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374904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95160" y="374904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0" y="374904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01000" y="374904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9144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Email Lead Scoring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457200" y="2103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</a:rPr>
              <a:t>Project Summary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From business problem definition to deployed application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3474720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0312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PyCaret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3474720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4904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58768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3858768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0312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49040" y="3858768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4904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MLflow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2026</a:t>
            </a:r>
            <a:endParaRPr lang="en-US" sz="1000" dirty="0"/>
          </a:p>
        </p:txBody>
      </p:sp>
      <p:sp>
        <p:nvSpPr>
          <p:cNvPr id="40" name="Rectangle 39"/>
          <p:cNvSpPr/>
          <p:nvPr/>
        </p:nvSpPr>
        <p:spPr>
          <a:xfrm>
            <a:off x="384048" y="4617720"/>
            <a:ext cx="2240280" cy="347472"/>
          </a:xfrm>
          <a:prstGeom prst="rect">
            <a:avLst/>
          </a:prstGeom>
          <a:solidFill>
            <a:srgbClr val="0F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5488" y="4677156"/>
            <a:ext cx="82296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4360" y="4677156"/>
            <a:ext cx="82296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13232" y="4677156"/>
            <a:ext cx="82296" cy="8229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2104" y="4677156"/>
            <a:ext cx="82296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" y="463143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Google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End-to-end machine learning solution for email marketing lead prioritization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58191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Mass email blasts cause subscriber churn via unsubscribes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22199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Each unsubscribed lead is a potential lost customer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86207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Unsub rate × conversion rate × customer value = significant revenue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50215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No mechanism to distinguish likely buyers from unlikely 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078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28032" y="158191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508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ML model scores each lead on purchase probability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28032" y="222199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14884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Threshold optimization maximizes expected business value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86207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Segment leads into Hot-Lead / Cold-Lead categories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5021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4290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REST API + Streamlit UI for marketing team self-service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Five-layer pipeline: Data → Analysis → Modeling → API → UI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572768" cy="34747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1. Cost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cost_calculations.py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47088" y="2231136"/>
            <a:ext cx="146304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572768" cy="347472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66544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2. Data Layer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66544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database.py  ·  SQLite CRM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2231136"/>
            <a:ext cx="146304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12464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12464" y="1097280"/>
            <a:ext cx="1572768" cy="3474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85616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3. EDA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85616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exploratory.py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85232" y="2231136"/>
            <a:ext cx="146304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31536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31536" y="1097280"/>
            <a:ext cx="1572768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04688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4. Modeling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04688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modeling.py  ·  PyCaret / MLflow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04304" y="2231136"/>
            <a:ext cx="146304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50608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50608" y="1097280"/>
            <a:ext cx="1572768" cy="34747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0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5. Lead Strategy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23760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lead_strategy.py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3931920" cy="822960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840480"/>
            <a:ext cx="64008" cy="822960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FastAPI Backend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1696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main.py  ·  REST endpoints  ·  Google Cloud Run 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840480"/>
            <a:ext cx="4297680" cy="822960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3840480"/>
            <a:ext cx="64008" cy="8229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9136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Streamlit Frontend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416966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app.py  ·  helpers.py  ·  Interactive lead scoring UI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Business Problem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&amp; Cost Calculation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1: Cost Calculation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cost_calculations.py  —  Quantifying the financial risk of mass email blasting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Cost Formula: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Monthly Cost  =  List Size  ×  Unsub Rate  ×  Emails/Month  ×  Conversion Rate  ×  Avg Customer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64008" cy="2697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cost_calc_monthly_cost_table()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212848"/>
            <a:ext cx="25146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Projects email list size, lost customers, and costs over N periods — with and without list growth. Key params: list size (100k), growth rate (3.5%), unsub rate (0.5%), conversion rate (5%), avg customer value ($2,000).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82880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828800"/>
            <a:ext cx="64008" cy="2697480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92424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cost_total_unsub_cost()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424" y="2212848"/>
            <a:ext cx="25146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Summarises total 12-month unsubscription cost with/without list growth from the monthly table. Returns a single-row DataFrame comparing both scenarios.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35624" y="182880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35624" y="1828800"/>
            <a:ext cx="64008" cy="2697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0216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cost_simulate_unsub_cost() + cost_plot_simulated_unsub_costs()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212848"/>
            <a:ext cx="25146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Runs a Cartesian parameter grid over growth rates and conversion rates to model cost uncertainty. Visualised as an interactive Plotly heatmap (Lead Cost Simulation).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02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Layer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Database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2: Data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database.py  —  SQLite CRM with multi-table join and feature engineering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06070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Subscribers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435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mailchimp_id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user_email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947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member_rating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203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optin_time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4597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country_code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24128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1024128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06070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92424" y="1435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mailchimp_id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92424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tag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35624" y="1024128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35624" y="1024128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45352" y="106070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1435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user_email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0216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...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090672"/>
            <a:ext cx="8503920" cy="34747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Processing Pipeline  →  db_read_and_process_els_data()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3602736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557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Join Subscribers ⟕ Tags (tag_count aggregation)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3822192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776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Extract email_provider from user_email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4041648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9959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Calculate optin_days (recency feature)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4261104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215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Compute tag_count_by_optin_day (engagement rate)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3602736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3557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Pivot tags to wide binary columns (tag_*)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73168" y="3822192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0" y="3776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Filter low-sale countries → label as 'Other'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4041648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39959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Add made_purchase label from Transactions join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03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Exploratory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Analysis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3: 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exploratory.py  —  Understanding purchase drivers across categorical and numeric features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160520" cy="38404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607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explore_sales_by_category()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Input: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5361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Subscribers DataFrame + category column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Groups by: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04825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country_code, member_rating, etc.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Outputs: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sales count, prop_in_group, prop_overall, prop_cumsum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Used for: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07238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Identifying top-converting countries &amp; ratings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84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Business use: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358444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Filter countries with ≥ 6 sales to reduce noise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16052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91456" y="10607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explore_sales_by_numeric()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1536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Input: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97296" y="15361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Subscribers DataFrame + numeric column(s)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91456" y="20482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Groups by: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97296" y="204825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made_purchase (0 / 1 binary target)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91456" y="2560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Outputs: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97296" y="25603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Quantile statistics (10th, 50th, 90th percentile)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072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Key feature: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97296" y="30723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tag_count — more tags = higher purchase signal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1456" y="3584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Business use: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97296" y="35844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Segment high-engagement from passive subscribers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04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ML Modeling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Pipeline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Training: PyCaret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Experiment configuration — 19,919 subscribers, 52 → 73 features after preprocessing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3566160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83480" y="1005840"/>
            <a:ext cx="38404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83480" y="1005840"/>
            <a:ext cx="64008" cy="3383280"/>
          </a:xfrm>
          <a:prstGeom prst="rect">
            <a:avLst/>
          </a:prstGeom>
          <a:solidFill>
            <a:srgbClr val="3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38928" y="10789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B"/>
                </a:solidFill>
              </a:rPr>
              <a:t>Experiment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142646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Target variable: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426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made_purchase  (binary)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17190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Dataset shape: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190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19,919 rows × 52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0116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After preprocessing: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0116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19,919 rows × 73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3042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Train / Test split: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3042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15,935 / 3,984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5968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Numeric features: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5968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49  |  Categorical: 1  |  Ordinal: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8895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Cross-validation: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895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StratifiedKFold, 5 folds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18211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Imputation: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1821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Numeric: mean  |  Categorical: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4747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Encoding: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74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Ordinal (member_rating) + OneHot (country_code)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7673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Experiment tracker: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7673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MLflowLogger → email_lead_scoring_0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059935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Random state: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05993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123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4: Machine Learning Modeling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3D5A99"/>
                </a:solidFill>
              </a:rPr>
              <a:t>modeling.py  —  PyCaret AutoML, XGBoost pipelines, Blended Ensemble, and MLflow tracking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217170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3471" y="2159575"/>
            <a:ext cx="64008" cy="107899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21580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XGBoost (Tuned)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2394753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xgb_model_tuned.pkl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69882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Gradient boosted trees, hyperparameter tuned via PyCaret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102412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90872" y="1024128"/>
            <a:ext cx="64008" cy="1078992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115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CatBoost (Tuned)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4081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catboost_model_tuned.pkl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73752" y="160934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Categorical feature-native boosting 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0872" y="221284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90872" y="2212848"/>
            <a:ext cx="64008" cy="107899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3042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Blended Ensemble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596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blended_models_final.pkl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3752" y="279806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Weighted blend of top PyCaret models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" y="104013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4478" y="1047755"/>
            <a:ext cx="64008" cy="1078992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" y="105841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F4B"/>
                </a:solidFill>
              </a:rPr>
              <a:t>XGBoost Pipeline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1292639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pipeline_xgb.pkl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1596153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Production sklearn pipeline with preprocessing + XGBoost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 (cont.): MLflow Experiment Tracking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Automated logging of model runs, AUC metrics, and artifact versioning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508760" cy="1371600"/>
          </a:xfrm>
          <a:prstGeom prst="rect">
            <a:avLst/>
          </a:prstGeom>
          <a:solidFill>
            <a:srgbClr val="3D5A9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Models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PyCaret AutoML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56232" y="1673352"/>
            <a:ext cx="182880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39112" y="1051560"/>
            <a:ext cx="1508760" cy="137160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3055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Log Runs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3055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mlflow.search_runs()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47872" y="1673352"/>
            <a:ext cx="182880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0752" y="1051560"/>
            <a:ext cx="1508760" cy="1371600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2219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Rank by AUC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2219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mlflow_get_best_run()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39512" y="1673352"/>
            <a:ext cx="182880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22392" y="1051560"/>
            <a:ext cx="1508760" cy="1371600"/>
          </a:xfrm>
          <a:prstGeom prst="rect">
            <a:avLst/>
          </a:prstGeom>
          <a:solidFill>
            <a:srgbClr val="9B5DE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1383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 Best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383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mlflow.pyfunc.load_model()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31152" y="1673352"/>
            <a:ext cx="182880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14032" y="1051560"/>
            <a:ext cx="150876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0547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Score Leads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0547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mlflow_score_leads()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651760"/>
            <a:ext cx="8503920" cy="347472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688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Key Functions in modeling.py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081528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081528"/>
            <a:ext cx="5486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3108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4B"/>
                </a:solidFill>
              </a:rPr>
              <a:t>model_score_leads(data, model_path)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" y="3346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Loads PyCaret model and generates lead_score = 1 − prediction_score. Validates required columns before scoring.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703320"/>
            <a:ext cx="5486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3730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4B"/>
                </a:solidFill>
              </a:rPr>
              <a:t>mlflow_get_best_run(experiment_name, n, metric)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Queries MLflow experiment runs, filters by tag source (finalize_model), ranks by AUC descending.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325112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4325112"/>
            <a:ext cx="5486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4B"/>
                </a:solidFill>
              </a:rPr>
              <a:t>mlflow_score_leads(data, run_id)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Loads a model from an MLflow run ID using pyfunc. Handles both standard predict and model_impl fallback. Returns scores merged with original data.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Best Model: Precision-Recall Curve &amp;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Avg. precision = 0.42  |  Calibration plot shows prediction probability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Precision-Recall Curve  (avg. precision = 0.42)</a:t>
            </a:r>
          </a:p>
        </p:txBody>
      </p:sp>
      <p:pic>
        <p:nvPicPr>
          <p:cNvPr id="7" name="Picture 6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429768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1F4B"/>
                </a:solidFill>
              </a:rPr>
              <a:t>Calibration Plot (</a:t>
            </a:r>
            <a:r>
              <a:rPr lang="en-US" sz="1100" b="1" dirty="0">
                <a:solidFill>
                  <a:srgbClr val="1A1F4B"/>
                </a:solidFill>
              </a:rPr>
              <a:t>Gradient Boosting Classifier</a:t>
            </a:r>
            <a:r>
              <a:rPr sz="1100" b="1" i="0" dirty="0">
                <a:solidFill>
                  <a:srgbClr val="1A1F4B"/>
                </a:solidFill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The model trades recall for precision — ideal for lead scoring where targeting false positives is costly. Calibration shows probability estimates are roughly reliable in the 0.2–0.5 range.</a:t>
            </a:r>
          </a:p>
        </p:txBody>
      </p:sp>
      <p:pic>
        <p:nvPicPr>
          <p:cNvPr id="13" name="Picture 12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C37208A0-91D9-E941-876A-C064D6B81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61872"/>
            <a:ext cx="4389121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Best Model: Feature Importance &amp;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tag_count dominates at ~50% importance  |  Class 1 precision 84.8%, recall 14.6%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Feature Importance (Top 10)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429768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Classification Report (Heatmap)</a:t>
            </a: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61872"/>
            <a:ext cx="3977639" cy="2834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46320" y="4160520"/>
            <a:ext cx="3977639" cy="658368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4160520"/>
            <a:ext cx="54864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4178808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Class 0:  Precision 0.958  |  Recall 0.999  |  F1 0.978  (3,792 samples)
Class 1:  Precision 0.848  |  Recall 0.146  |  F1 0.249  (192 samples)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Best Model: GradientBoostingClassifier —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After refitting with full training dataset  |  macro-average AUC = 0.84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ROC Curve  (AUC = 0.84)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429768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Confusion Matrix</a:t>
            </a:r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61872"/>
            <a:ext cx="3977639" cy="2834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46320" y="4160520"/>
            <a:ext cx="3977639" cy="658368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4160520"/>
            <a:ext cx="54864" cy="6583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41879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TN 3,787  |  FP 5  |  FN 164  |  TP 28
High precision on positives (84.8%) — very few false alarms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Email Lead Scoring — end-to-end ML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444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78408" y="1444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Business-First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79222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Project starts with cost simulation to quantify the financial impact of lead churn before any modelling begins.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6052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444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13248" y="1444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Clean Data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179222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SQLite CRM with Subscribers, Tags &amp; Transactions tables; feature engineering produces engagement-rate features.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416052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8408" y="26151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Multi-Model Comparison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296265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XGBoost, CatBoost, AdaBoost, blended ensemble (CalibratedClassifierCV) — all tracked via MLflow with AUC ranking.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542032"/>
            <a:ext cx="416052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13248" y="26151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Value-Optimised Thresholding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13248" y="296265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100-point threshold sweep with expected-value calculus and a monthly-sales safeguard ensures real ROI.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794760"/>
            <a:ext cx="457200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95728" y="38679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944368" y="38679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Production-Ready 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44368" y="421538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FastAPI backend on Google Cloud Run + Streamlit frontend for marketing team self-service — fully deployable.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05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Lead Strategy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&amp; Optimization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5: Lead Strategy &amp; Expected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lead_strategy.py  —  Threshold optimization to maximize business return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36576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Lead Segmentation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383280" cy="731520"/>
          </a:xfrm>
          <a:prstGeom prst="rect">
            <a:avLst/>
          </a:prstGeom>
          <a:solidFill>
            <a:srgbClr val="FFF0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HOT LEAD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gain ≤ threshold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→ Target with sales emails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383280" cy="731520"/>
          </a:xfrm>
          <a:prstGeom prst="rect">
            <a:avLst/>
          </a:prstGeom>
          <a:solidFill>
            <a:srgbClr val="E8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95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COLD LEAD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gain &gt; threshold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→ Withhold sales emails (nurture instead)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383280" cy="123444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Ranking Approach: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5295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Sort by lead_score descending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8313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Assign cumulative gain (% of total buyers captured)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09651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0599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Apply threshold cut-off to generate categories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1024128"/>
            <a:ext cx="45720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06240" y="1024128"/>
            <a:ext cx="4572000" cy="36576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43400" y="1060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Expected Value Components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1508760"/>
            <a:ext cx="4297680" cy="576072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0560" y="15544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+ Savings: Cold Not Targeted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17922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Prevents unsub-driven customer loss from unlikely buyers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2176272"/>
            <a:ext cx="4297680" cy="576072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80560" y="22219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+ Sales: Hot Leads Retained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24597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from email sales to high-probability purchasers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2843784"/>
            <a:ext cx="4297680" cy="576072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80560" y="28895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− Cost: Missed Cold Purchases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0" y="31272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foregone by not emailing cold leads who buy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3511296"/>
            <a:ext cx="4297680" cy="576072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0560" y="355701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= Expected Value (EV)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37947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Optimise EV across 100 threshold values (0 → 1)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 (cont.): Threshold Optimization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Finding the optimal Hot/Cold cut-off that maximises expected value with a sales safeguard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24128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024128"/>
            <a:ext cx="3108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0" y="1024128"/>
            <a:ext cx="3108960" cy="365760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0" y="1060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Optimization Logic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Primary: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1737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Maximise expected_value across 100 thresholds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Safeguard: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Monthly sales must stay ≥ 90% of max (configurable)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Override: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2834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If optimum fails safeguard → pick smallest safe threshold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Output: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33832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lead_strategy_df, expected_value, thresh_plot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3904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Key Output Metrics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24528"/>
            <a:ext cx="1920240" cy="50292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expected_value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60320" y="4224528"/>
            <a:ext cx="1920240" cy="50292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56032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expected_savings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4224528"/>
            <a:ext cx="1920240" cy="50292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66344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monthly_sales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766560" y="4224528"/>
            <a:ext cx="1920240" cy="50292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76656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expected_customers_saved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0" y="2743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CADCFC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Training
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046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</a:rPr>
              <a:t>XGBoost</a:t>
            </a:r>
            <a:r>
              <a:rPr sz="2200" b="1" i="0" dirty="0">
                <a:solidFill>
                  <a:srgbClr val="FFFFFF"/>
                </a:solidFill>
              </a:rPr>
              <a:t> vs Blended — Pipeline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5A99"/>
                </a:solidFill>
              </a:rPr>
              <a:t>XGBoost sklearn pipeline steps vs CalibratedClassifierCV blended ensemble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1F4B"/>
                </a:solidFill>
              </a:rPr>
              <a:t>Pipeline (</a:t>
            </a:r>
            <a:r>
              <a:rPr sz="1100" b="1" i="0" dirty="0" err="1">
                <a:solidFill>
                  <a:srgbClr val="1A1F4B"/>
                </a:solidFill>
              </a:rPr>
              <a:t>sklearn</a:t>
            </a:r>
            <a:r>
              <a:rPr sz="1100" b="1" i="0" dirty="0">
                <a:solidFill>
                  <a:srgbClr val="1A1F4B"/>
                </a:solidFill>
              </a:rPr>
              <a:t> steps: impute → encode → </a:t>
            </a:r>
            <a:r>
              <a:rPr sz="1100" b="1" i="0" dirty="0" err="1">
                <a:solidFill>
                  <a:srgbClr val="1A1F4B"/>
                </a:solidFill>
              </a:rPr>
              <a:t>XGBClassifier</a:t>
            </a:r>
            <a:r>
              <a:rPr sz="1100" b="1" i="0" dirty="0">
                <a:solidFill>
                  <a:srgbClr val="1A1F4B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4023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1F4B"/>
                </a:solidFill>
              </a:rPr>
              <a:t>Blended Model Pipeline (→ </a:t>
            </a:r>
            <a:r>
              <a:rPr sz="1100" b="1" i="0" dirty="0" err="1">
                <a:solidFill>
                  <a:srgbClr val="1A1F4B"/>
                </a:solidFill>
              </a:rPr>
              <a:t>CalibratedClassifierCV</a:t>
            </a:r>
            <a:r>
              <a:rPr sz="1100" b="1" i="0" dirty="0">
                <a:solidFill>
                  <a:srgbClr val="1A1F4B"/>
                </a:solidFill>
              </a:rPr>
              <a:t>)</a:t>
            </a:r>
          </a:p>
        </p:txBody>
      </p:sp>
      <p:pic>
        <p:nvPicPr>
          <p:cNvPr id="8" name="Picture 7" descr="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3017520"/>
          </a:xfrm>
          <a:prstGeom prst="rect">
            <a:avLst/>
          </a:prstGeom>
        </p:spPr>
      </p:pic>
      <p:pic>
        <p:nvPicPr>
          <p:cNvPr id="9" name="Picture 8" descr="imag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17320"/>
            <a:ext cx="3977639" cy="1005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Both pipelines share the same preprocessing (imputation, ordinal + onehot encoding). The blended model wraps a Voting Ensemble in CalibratedClassifierCV for improved probability calibration.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Training: All-Models Comparison (PyCaret)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14 classifiers benchmarked via 5-fold StratifiedKFold — ranked by AUC  |  Best: Gradient Boosting (AUC 0.7837)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Tuned Models: Cross-Validation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XGBoost after hyperparameter tuning  vs  Blended ensemble  —  5-fold StratifiedKFold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XGBoost After Tuning — CV Results
Mean AUC: 0.7877  |  Mean Accuracy: 0.9511</a:t>
            </a:r>
          </a:p>
        </p:txBody>
      </p:sp>
      <p:pic>
        <p:nvPicPr>
          <p:cNvPr id="7" name="Picture 6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429768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Blended Models (Voting Ensemble) — CV Results
Mean AUC: 0.7914  |  Mean Accuracy: 0.9515</a:t>
            </a:r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977639" cy="2194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3749039"/>
            <a:ext cx="850392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54864" cy="1115568"/>
          </a:xfrm>
          <a:prstGeom prst="rect">
            <a:avLst/>
          </a:prstGeom>
          <a:solidFill>
            <a:srgbClr val="3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7764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99"/>
                </a:solidFill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764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99"/>
                </a:solidFill>
              </a:rPr>
              <a:t>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7764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99"/>
                </a:solidFill>
              </a:rPr>
              <a:t>Acc.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776472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99"/>
                </a:solidFill>
              </a:rPr>
              <a:t>Note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" y="4023360"/>
            <a:ext cx="8394192" cy="237744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Gradient Boosting (base)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0416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0.7837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0416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0.9516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41648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Best initial model from PyCaret compare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" y="4270248"/>
            <a:ext cx="8394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2885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XGBoost (tuned)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8853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0.7877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28853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0.9511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88536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Marginal AUC gain after hyperparameter tuning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" y="4517136"/>
            <a:ext cx="8394192" cy="237744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5354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Blended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5354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0.7914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5354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0.9515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53542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Best AUC — used for lead strategy optimization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XGBoost vs Blended — AUC / ROC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5A99"/>
                </a:solidFill>
              </a:rPr>
              <a:t>AUC improves from 0.84 (GradientBoosting) → 0.89 (CalibratedClassifierCV blended ensemble)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XGBoost / GradientBoosting ROC  (macro-avg AUC = 0.84)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Blended Model ROC  (AUC = 0.89)  ▲ +5.9%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3017520"/>
          </a:xfrm>
          <a:prstGeom prst="rect">
            <a:avLst/>
          </a:prstGeom>
        </p:spPr>
      </p:pic>
      <p:pic>
        <p:nvPicPr>
          <p:cNvPr id="9" name="Picture 8" descr="imag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3977639" cy="3017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Blended ensemble with calibration raises AUC from 0.84 → 0.89.  Micro-avg AUC rises from 0.98 → 0.99.  Stronger separation of buyers vs non-buyers.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XGBoost vs Blended — Confusion Matrix (Improved)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5A99"/>
                </a:solidFill>
              </a:rPr>
              <a:t>FP reduced 5→2  |  TP improved 28→34  |  Precision up, false alarms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GradientBoostingClassifier  —  TN 3787 | FP 5 | FN 164 | TP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Blended Model  —  TN 3790 | FP 2 | FN 158 | TP 34 ▲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2926080"/>
          </a:xfrm>
          <a:prstGeom prst="rect">
            <a:avLst/>
          </a:prstGeom>
        </p:spPr>
      </p:pic>
      <p:pic>
        <p:nvPicPr>
          <p:cNvPr id="9" name="Picture 8" descr="imag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3977639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Blended model cuts false positives by 60% (5→2) and increases true positives by 21% (28→34), reducing wasted email sends and capturing more buyers.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Blended Model — Calibration &amp;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5A99"/>
                </a:solidFill>
              </a:rPr>
              <a:t>CalibratedClassifierCV wraps Voting Ensemble — improved probability reliability for lead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Calibration Plot  (Voting Classifier — reliability curve)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Classification Report  —  Class 1: Precision 0.944 | Recall 0.177 | F1 0.298</a:t>
            </a:r>
          </a:p>
        </p:txBody>
      </p:sp>
      <p:pic>
        <p:nvPicPr>
          <p:cNvPr id="8" name="Picture 7" descr="im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3017520"/>
          </a:xfrm>
          <a:prstGeom prst="rect">
            <a:avLst/>
          </a:prstGeom>
        </p:spPr>
      </p:pic>
      <p:pic>
        <p:nvPicPr>
          <p:cNvPr id="9" name="Picture 8" descr="imag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89888"/>
            <a:ext cx="3977639" cy="3017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Calibration ensures predicted probabilities match observed outcomes (0.2–0.5 range reliable). Class 1 precision of 0.944 means very few false alarms when targeting hot leads.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Best Model: Lift &amp; Cumulative Gains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3D5A99"/>
                </a:solidFill>
              </a:rPr>
              <a:t>Class 1 (buyers) lift ~21× at the very top of the scored list — strong ranking 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Lift Curve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429768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Cumulative Gains Curve</a:t>
            </a:r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61872"/>
            <a:ext cx="3977639" cy="3108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3542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Targeting the top 40% of scored leads captures ~80% of all buyers — enabling precise email suppression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07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FastAPI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Backend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7: FastAPI Backend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main.py  —  REST API exposing lead scoring and strategy endpoints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694944" cy="56692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1060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13167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Animated HTML welcome page with link to /docs (Swagger UI)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694944" cy="56692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1682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/get_email_subscribers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19385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Returns all email subscribers from SQLite database as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267712"/>
            <a:ext cx="69494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267712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25603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Accepts JSON lead data and echoes it back (data passthrough utility)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89504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89504"/>
            <a:ext cx="69494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889504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/predict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31821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Scores leads using xgb_model_tuned.pkl; returns lead_score dict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1129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511296"/>
            <a:ext cx="69494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511296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" y="3547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/predict_xgb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" y="380390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Scores using sklearn pipeline_xgb.pkl; drops non-feature cols, returns probabilities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33088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4133088"/>
            <a:ext cx="69494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4133088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" y="4169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/calculate_lead_strategy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8992" y="442569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Full pipeline: score → optimize → return strategy DF, expected value, and threshold table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08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Streamlit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Frontend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8: Streamlit 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app.py + helpers.py  —  Interactive self-service lead scoring for the marketing team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32104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 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Use default leads.csv or upload a custom subscriber CSV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92808" y="1810512"/>
            <a:ext cx="146304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51176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51176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39112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39112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12264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Set monthly sales estimate &amp; sales safeguard % via UI controls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1810512"/>
            <a:ext cx="146304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70248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70248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58184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58184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31336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9624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POST to FastAPI /calculate_lead_strategy endpoint with spinner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30952" y="1810512"/>
            <a:ext cx="146304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89320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89320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77256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77256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50408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 Results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68696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Expected value summary, interactive Plotly threshold chart, lead table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50024" y="1810512"/>
            <a:ext cx="146304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08392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08392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96328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96328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69480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Download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Export full lead_strategy CSV with Hot/Cold categories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050792"/>
            <a:ext cx="8503920" cy="347472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087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" y="452628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4897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st.cache_data() for fast data reload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73168" y="452628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0" y="44897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Plotly interactive charts via st.plotly_chart()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" y="474573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709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Configurable parameters (sales, safeguard %)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73168" y="474573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4709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CSV download with st.download_button()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Deployment &amp; Tech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Production-ready setup with Google Cloud and modern Python ecosystem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8892" y="102412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1605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Backend Server: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Google Cloud Run (containerised FastAPI)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uvicorn, port 8080, asyncio event loop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084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Frontend: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1F4B"/>
                </a:solidFill>
              </a:rPr>
              <a:t>Google Cloud Run (</a:t>
            </a:r>
            <a:r>
              <a:rPr lang="en-US" sz="950" dirty="0" err="1">
                <a:solidFill>
                  <a:srgbClr val="1A1F4B"/>
                </a:solidFill>
              </a:rPr>
              <a:t>containerised</a:t>
            </a:r>
            <a:r>
              <a:rPr lang="en-US" sz="950" dirty="0">
                <a:solidFill>
                  <a:srgbClr val="1A1F4B"/>
                </a:solidFill>
              </a:rPr>
              <a:t> </a:t>
            </a:r>
            <a:r>
              <a:rPr lang="en-US" sz="950" dirty="0" err="1">
                <a:solidFill>
                  <a:srgbClr val="1A1F4B"/>
                </a:solidFill>
              </a:rPr>
              <a:t>Streamlit</a:t>
            </a:r>
            <a:r>
              <a:rPr lang="en-US" sz="950" dirty="0">
                <a:solidFill>
                  <a:srgbClr val="1A1F4B"/>
                </a:solidFill>
              </a:rPr>
              <a:t> app)</a:t>
            </a:r>
            <a:endParaRPr lang="en-US" sz="950" dirty="0"/>
          </a:p>
          <a:p>
            <a:r>
              <a:rPr lang="en-US" sz="950" dirty="0" err="1">
                <a:solidFill>
                  <a:srgbClr val="1A1F4B"/>
                </a:solidFill>
              </a:rPr>
              <a:t>uvicorn</a:t>
            </a:r>
            <a:r>
              <a:rPr lang="en-US" sz="950" dirty="0">
                <a:solidFill>
                  <a:srgbClr val="1A1F4B"/>
                </a:solidFill>
              </a:rPr>
              <a:t>, port 8501, </a:t>
            </a:r>
            <a:r>
              <a:rPr lang="en-US" sz="950" dirty="0" err="1">
                <a:solidFill>
                  <a:srgbClr val="1A1F4B"/>
                </a:solidFill>
              </a:rPr>
              <a:t>asyncio</a:t>
            </a:r>
            <a:r>
              <a:rPr lang="en-US" sz="950" dirty="0">
                <a:solidFill>
                  <a:srgbClr val="1A1F4B"/>
                </a:solidFill>
              </a:rPr>
              <a:t> event loop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73240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Config: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76957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CORS enabled for all origins (*)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Environment variables via .env file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730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Google SDK: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931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google-cloud-sdk included for GCP deployment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gcloud, gsutil, bq CLI tools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16052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060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Tech Stack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15361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Data: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pandas 2.1.4, numpy 1.26.4, SQLAlchemy 2.0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28032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ML / Modeling: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2286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pycaret 3.3.1, xgboost 2.0.3, catboost 1.2.5,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scikitlearn 1.4.2, imbalanced-learn 0.12.2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2633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Experiment Tracking: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2834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mlflow 2.12.1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31821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API Framework: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383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fastapi 0.110.2, uvicorn 0.29.0, pydantic 2.7.0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Visualisation: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3931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plotly 5.21.0, plotly-resampler 0.10.0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4187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Utilities: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4297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pyjanitor 0.27.0, pandas-flavor 0.6.0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2120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64008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F4B"/>
                </a:solidFill>
              </a:rPr>
              <a:t>Live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D5A99"/>
                </a:solidFill>
              </a:rPr>
              <a:t>Email Lead Scoring — Streamlit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4663440" cy="59436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4864" cy="594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1975104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E2761"/>
                </a:solidFill>
              </a:rPr>
              <a:t>https://frontend-els-741818216556.us-central1.run.app/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97480"/>
            <a:ext cx="914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F4B"/>
                </a:solidFill>
              </a:rPr>
              <a:t>Upload subscriber CSV or use the built-in leads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08376"/>
            <a:ext cx="914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F4B"/>
                </a:solidFill>
              </a:rPr>
              <a:t>Configure monthly sales target &amp; safeguard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319272"/>
            <a:ext cx="914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826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F4B"/>
                </a:solidFill>
              </a:rPr>
              <a:t>Run ML scoring via FastAPI backend on Google Cloud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914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F4B"/>
                </a:solidFill>
              </a:rPr>
              <a:t>Download Hot-Lead / Cold-Lead strategy as 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CADCFC"/>
                </a:solidFill>
              </a:rPr>
              <a:t>Try it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08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ADCFC"/>
                </a:solidFill>
              </a:rPr>
              <a:t>Deployed on
Google Cloud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2270</TotalTime>
  <Words>2518</Words>
  <Application>Microsoft Macintosh PowerPoint</Application>
  <PresentationFormat>On-screen Show (16:9)</PresentationFormat>
  <Paragraphs>402</Paragraphs>
  <Slides>34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Lead Scoring Project</dc:title>
  <dc:subject>PptxGenJS Presentation</dc:subject>
  <dc:creator>Ella</dc:creator>
  <cp:lastModifiedBy>Ella Ndalla</cp:lastModifiedBy>
  <cp:revision>7</cp:revision>
  <dcterms:created xsi:type="dcterms:W3CDTF">2026-02-23T15:09:50Z</dcterms:created>
  <dcterms:modified xsi:type="dcterms:W3CDTF">2026-03-16T02:55:37Z</dcterms:modified>
</cp:coreProperties>
</file>