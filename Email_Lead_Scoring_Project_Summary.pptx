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8" r:id="rId12"/>
    <p:sldId id="266" r:id="rId13"/>
    <p:sldId id="267" r:id="rId14"/>
    <p:sldId id="284" r:id="rId15"/>
    <p:sldId id="282" r:id="rId16"/>
    <p:sldId id="280" r:id="rId17"/>
    <p:sldId id="276" r:id="rId18"/>
    <p:sldId id="268" r:id="rId19"/>
    <p:sldId id="269" r:id="rId20"/>
    <p:sldId id="270" r:id="rId21"/>
    <p:sldId id="277" r:id="rId22"/>
    <p:sldId id="286" r:id="rId23"/>
    <p:sldId id="279" r:id="rId24"/>
    <p:sldId id="283" r:id="rId25"/>
    <p:sldId id="287" r:id="rId26"/>
    <p:sldId id="288" r:id="rId27"/>
    <p:sldId id="289" r:id="rId28"/>
    <p:sldId id="281" r:id="rId29"/>
    <p:sldId id="271" r:id="rId30"/>
    <p:sldId id="272" r:id="rId31"/>
    <p:sldId id="273" r:id="rId32"/>
    <p:sldId id="274" r:id="rId33"/>
    <p:sldId id="275" r:id="rId34"/>
    <p:sldId id="285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67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3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Expected Value vs. Threshold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Expected Value</c:v>
                </c:pt>
              </c:strCache>
            </c:strRef>
          </c:tx>
          <c:spPr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strRef>
              <c:f>Sheet1!$A$2:$A$22</c:f>
              <c:strCache>
                <c:ptCount val="21"/>
                <c:pt idx="0">
                  <c:v>0.00</c:v>
                </c:pt>
                <c:pt idx="1">
                  <c:v>0.05</c:v>
                </c:pt>
                <c:pt idx="2">
                  <c:v>0.10</c:v>
                </c:pt>
                <c:pt idx="3">
                  <c:v>0.15</c:v>
                </c:pt>
                <c:pt idx="4">
                  <c:v>0.20</c:v>
                </c:pt>
                <c:pt idx="5">
                  <c:v>0.25</c:v>
                </c:pt>
                <c:pt idx="6">
                  <c:v>0.30</c:v>
                </c:pt>
                <c:pt idx="7">
                  <c:v>0.35</c:v>
                </c:pt>
                <c:pt idx="8">
                  <c:v>0.40</c:v>
                </c:pt>
                <c:pt idx="9">
                  <c:v>0.45</c:v>
                </c:pt>
                <c:pt idx="10">
                  <c:v>0.50</c:v>
                </c:pt>
                <c:pt idx="11">
                  <c:v>0.55</c:v>
                </c:pt>
                <c:pt idx="12">
                  <c:v>0.60</c:v>
                </c:pt>
                <c:pt idx="13">
                  <c:v>0.65</c:v>
                </c:pt>
                <c:pt idx="14">
                  <c:v>0.70</c:v>
                </c:pt>
                <c:pt idx="15">
                  <c:v>0.75</c:v>
                </c:pt>
                <c:pt idx="16">
                  <c:v>0.80</c:v>
                </c:pt>
                <c:pt idx="17">
                  <c:v>0.85</c:v>
                </c:pt>
                <c:pt idx="18">
                  <c:v>0.90</c:v>
                </c:pt>
                <c:pt idx="19">
                  <c:v>0.95</c:v>
                </c:pt>
                <c:pt idx="20">
                  <c:v>1.00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-5000</c:v>
                </c:pt>
                <c:pt idx="1">
                  <c:v>-171.86678454435241</c:v>
                </c:pt>
                <c:pt idx="2">
                  <c:v>4466.9103711879943</c:v>
                </c:pt>
                <c:pt idx="3">
                  <c:v>8736.1033355218078</c:v>
                </c:pt>
                <c:pt idx="4">
                  <c:v>12473.299820181448</c:v>
                </c:pt>
                <c:pt idx="5">
                  <c:v>15541.732481105835</c:v>
                </c:pt>
                <c:pt idx="6">
                  <c:v>17836.871802128775</c:v>
                </c:pt>
                <c:pt idx="7">
                  <c:v>19291.464950898622</c:v>
                </c:pt>
                <c:pt idx="8">
                  <c:v>19878.777708477133</c:v>
                </c:pt>
                <c:pt idx="9">
                  <c:v>19613.883195072576</c:v>
                </c:pt>
                <c:pt idx="10">
                  <c:v>18552.935268752623</c:v>
                </c:pt>
                <c:pt idx="11">
                  <c:v>16790.461623025614</c:v>
                </c:pt>
                <c:pt idx="12">
                  <c:v>14454.807069795668</c:v>
                </c:pt>
                <c:pt idx="13">
                  <c:v>11701.94666469856</c:v>
                </c:pt>
                <c:pt idx="14">
                  <c:v>8707.9669137384371</c:v>
                </c:pt>
                <c:pt idx="15">
                  <c:v>5660.5775054215319</c:v>
                </c:pt>
                <c:pt idx="16">
                  <c:v>2750.0627461994118</c:v>
                </c:pt>
                <c:pt idx="17">
                  <c:v>160.10888619334037</c:v>
                </c:pt>
                <c:pt idx="18">
                  <c:v>-1941.0504951073908</c:v>
                </c:pt>
                <c:pt idx="19">
                  <c:v>-3408.7442055933298</c:v>
                </c:pt>
                <c:pt idx="20">
                  <c:v>-4128.8373300112908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AF06-5046-887A-0654A4066A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0288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7.xml.rels><?xml version="1.0" encoding="UTF-8"?>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8.xml.rels><?xml version="1.0" encoding="UTF-8"?>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9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0.xml.rels><?xml version="1.0" encoding="UTF-8"?>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1.xml.rels><?xml version="1.0" encoding="UTF-8"?>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2.xml.rels><?xml version="1.0" encoding="UTF-8"?>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3.xml.rels><?xml version="1.0" encoding="UTF-8"?>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3D5A99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217920" y="0"/>
            <a:ext cx="54864" cy="5143500"/>
          </a:xfrm>
          <a:prstGeom prst="rect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92240" y="45720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995160" y="45720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0" y="45720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01000" y="45720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492240" y="128016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995160" y="128016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498080" y="128016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001000" y="128016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92240" y="210312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995160" y="210312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498080" y="210312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001000" y="210312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92240" y="292608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995160" y="292608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498080" y="292608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001000" y="292608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92240" y="374904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995160" y="374904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498080" y="374904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001000" y="3749040"/>
            <a:ext cx="73152" cy="73152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9144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Email Lead Scoring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457200" y="21031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CADCFC"/>
                </a:solidFill>
              </a:rPr>
              <a:t>Project Summary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457200" y="27889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</a:rPr>
              <a:t>From business problem definition to deployed application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474720"/>
            <a:ext cx="1463040" cy="274320"/>
          </a:xfrm>
          <a:prstGeom prst="rect">
            <a:avLst/>
          </a:prstGeom>
          <a:solidFill>
            <a:srgbClr val="F4A261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57200" y="3474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Python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103120" y="3474720"/>
            <a:ext cx="1463040" cy="274320"/>
          </a:xfrm>
          <a:prstGeom prst="rect">
            <a:avLst/>
          </a:prstGeom>
          <a:solidFill>
            <a:srgbClr val="F4A261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103120" y="3474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PyCaret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749040" y="3474720"/>
            <a:ext cx="1463040" cy="274320"/>
          </a:xfrm>
          <a:prstGeom prst="rect">
            <a:avLst/>
          </a:prstGeom>
          <a:solidFill>
            <a:srgbClr val="F4A261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749040" y="3474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XGBoost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3858768"/>
            <a:ext cx="1463040" cy="274320"/>
          </a:xfrm>
          <a:prstGeom prst="rect">
            <a:avLst/>
          </a:prstGeom>
          <a:solidFill>
            <a:srgbClr val="F4A261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7200" y="38587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FastAPI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03120" y="3858768"/>
            <a:ext cx="1463040" cy="274320"/>
          </a:xfrm>
          <a:prstGeom prst="rect">
            <a:avLst/>
          </a:prstGeom>
          <a:solidFill>
            <a:srgbClr val="F4A261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103120" y="38587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Streamlit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49040" y="3858768"/>
            <a:ext cx="1463040" cy="274320"/>
          </a:xfrm>
          <a:prstGeom prst="rect">
            <a:avLst/>
          </a:prstGeom>
          <a:solidFill>
            <a:srgbClr val="F4A261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749040" y="38587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MLflow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7200" y="46634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2026</a:t>
            </a:r>
            <a:endParaRPr lang="en-US" sz="1000" dirty="0"/>
          </a:p>
        </p:txBody>
      </p:sp>
      <p:sp>
        <p:nvSpPr>
          <p:cNvPr id="40" name="Rectangle 39"/>
          <p:cNvSpPr/>
          <p:nvPr/>
        </p:nvSpPr>
        <p:spPr>
          <a:xfrm>
            <a:off x="384048" y="4617720"/>
            <a:ext cx="2240280" cy="347472"/>
          </a:xfrm>
          <a:prstGeom prst="rect">
            <a:avLst/>
          </a:prstGeom>
          <a:solidFill>
            <a:srgbClr val="0F1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75488" y="4677156"/>
            <a:ext cx="82296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94360" y="4677156"/>
            <a:ext cx="82296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13232" y="4677156"/>
            <a:ext cx="82296" cy="82296"/>
          </a:xfrm>
          <a:prstGeom prst="rect">
            <a:avLst/>
          </a:prstGeom>
          <a:solidFill>
            <a:srgbClr val="FBBC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32104" y="4677156"/>
            <a:ext cx="82296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05840" y="4631436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Google Cloud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Project Overview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D5A99"/>
                </a:solidFill>
              </a:rPr>
              <a:t>End-to-end machine learning solution for email marketing lead prioritization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4160520" cy="3520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051560"/>
            <a:ext cx="4160520" cy="38404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78992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" y="1581912"/>
            <a:ext cx="128016" cy="128016"/>
          </a:xfrm>
          <a:prstGeom prst="ellipse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1508760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4B"/>
                </a:solidFill>
              </a:rPr>
              <a:t>Mass email blasts cause subscriber churn via unsubscribes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" y="2221992"/>
            <a:ext cx="128016" cy="128016"/>
          </a:xfrm>
          <a:prstGeom prst="ellipse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2148840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4B"/>
                </a:solidFill>
              </a:rPr>
              <a:t>Each unsubscribed lead is a potential lost customer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" y="2862072"/>
            <a:ext cx="128016" cy="128016"/>
          </a:xfrm>
          <a:prstGeom prst="ellipse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2788920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4B"/>
                </a:solidFill>
              </a:rPr>
              <a:t>Unsub rate × conversion rate × customer value = significant revenue risk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" y="3502152"/>
            <a:ext cx="128016" cy="128016"/>
          </a:xfrm>
          <a:prstGeom prst="ellipse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" y="3429000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4B"/>
                </a:solidFill>
              </a:rPr>
              <a:t>No mechanism to distinguish likely buyers from unlikely ones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1051560"/>
            <a:ext cx="4160520" cy="3520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63440" y="1051560"/>
            <a:ext cx="4160520" cy="384048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54880" y="1078992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THE SOLUTION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28032" y="1581912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0" y="1508760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4B"/>
                </a:solidFill>
              </a:rPr>
              <a:t>ML model scores each lead on purchase probability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28032" y="2221992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29200" y="2148840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4B"/>
                </a:solidFill>
              </a:rPr>
              <a:t>Threshold optimization maximizes expected business value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28032" y="2862072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29200" y="2788920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4B"/>
                </a:solidFill>
              </a:rPr>
              <a:t>Segment leads into Hot-Lead / Cold-Lead categories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28032" y="3502152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0" y="3429000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4B"/>
                </a:solidFill>
              </a:rPr>
              <a:t>REST API + Streamlit UI for marketing team self-service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Project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D5A99"/>
                </a:solidFill>
              </a:rPr>
              <a:t>Five-layer pipeline: Data → Analysis → Modeling → API → UI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1572768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1572768" cy="347472"/>
          </a:xfrm>
          <a:prstGeom prst="rect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47472" y="1124712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1. Cost Analysis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7472" y="1508760"/>
            <a:ext cx="1426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cost_calculations.py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47088" y="2231136"/>
            <a:ext cx="146304" cy="54864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993392" y="1097280"/>
            <a:ext cx="1572768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993392" y="1097280"/>
            <a:ext cx="1572768" cy="347472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66544" y="1124712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2. Data Layer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066544" y="1508760"/>
            <a:ext cx="1426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database.py  ·  SQLite CRM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66160" y="2231136"/>
            <a:ext cx="146304" cy="54864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12464" y="1097280"/>
            <a:ext cx="1572768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712464" y="1097280"/>
            <a:ext cx="1572768" cy="347472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785616" y="1124712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3. EDA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785616" y="1508760"/>
            <a:ext cx="1426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exploratory.py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285232" y="2231136"/>
            <a:ext cx="146304" cy="54864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431536" y="1097280"/>
            <a:ext cx="1572768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431536" y="1097280"/>
            <a:ext cx="1572768" cy="34747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504688" y="1124712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4. Modeling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504688" y="1508760"/>
            <a:ext cx="1426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modeling.py  ·  PyCaret / MLflow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004304" y="2231136"/>
            <a:ext cx="146304" cy="54864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150608" y="1097280"/>
            <a:ext cx="1572768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150608" y="1097280"/>
            <a:ext cx="1572768" cy="347472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223760" y="1124712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5. Lead Strategy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223760" y="1508760"/>
            <a:ext cx="1426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lead_strategy.py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3840480"/>
            <a:ext cx="3931920" cy="822960"/>
          </a:xfrm>
          <a:prstGeom prst="rect">
            <a:avLst/>
          </a:prstGeom>
          <a:solidFill>
            <a:srgbClr val="E8EE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74320" y="3840480"/>
            <a:ext cx="64008" cy="822960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" y="3913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FastAPI Backend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416966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main.py  ·  REST endpoints  ·  Google Cloud Run / Vercel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0" y="3840480"/>
            <a:ext cx="4297680" cy="822960"/>
          </a:xfrm>
          <a:prstGeom prst="rect">
            <a:avLst/>
          </a:prstGeom>
          <a:solidFill>
            <a:srgbClr val="E8EE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572000" y="3840480"/>
            <a:ext cx="64008" cy="8229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754880" y="391363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Streamlit Frontend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754880" y="4169664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app.py  ·  helpers.py  ·  Interactive lead scoring UI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0" y="274320"/>
            <a:ext cx="2926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0" b="1" dirty="0">
                <a:solidFill>
                  <a:srgbClr val="3D5A99">
                    <a:alpha val="40000"/>
                  </a:srgbClr>
                </a:solidFill>
              </a:rPr>
              <a:t>01</a:t>
            </a:r>
            <a:endParaRPr lang="en-US" sz="16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3D5A99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CADCFC"/>
                </a:solidFill>
              </a:rPr>
              <a:t>STEP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Business Problem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&amp; Cost Calculation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1: Cost Calculation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D5A99"/>
                </a:solidFill>
              </a:rPr>
              <a:t>cost_calculations.py  —  Quantifying the financial risk of mass email blasting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8503920" cy="68580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ADCFC"/>
                </a:solidFill>
              </a:rPr>
              <a:t>Cost Formula: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Monthly Cost  =  List Size  ×  Unsub Rate  ×  Emails/Month  ×  Conversion Rate  ×  Avg Customer Value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1828800"/>
            <a:ext cx="274320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0040" y="1828800"/>
            <a:ext cx="64008" cy="2697480"/>
          </a:xfrm>
          <a:prstGeom prst="rect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" y="1920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4B"/>
                </a:solidFill>
              </a:rPr>
              <a:t>cost_calc_monthly_cost_table()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" y="2212848"/>
            <a:ext cx="2514600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Projects email list size, lost customers, and costs over N periods — with and without list growth. Key params: list size (100k), growth rate (3.5%), unsub rate (0.5%), conversion rate (5%), avg customer value ($2,000).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27832" y="1828800"/>
            <a:ext cx="274320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27832" y="1828800"/>
            <a:ext cx="64008" cy="2697480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92424" y="1920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4B"/>
                </a:solidFill>
              </a:rPr>
              <a:t>cost_total_unsub_cost()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92424" y="2212848"/>
            <a:ext cx="2514600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Summarises total 12-month unsubscription cost with/without list growth from the monthly table. Returns a single-row DataFrame comparing both scenarios.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35624" y="1828800"/>
            <a:ext cx="274320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135624" y="1828800"/>
            <a:ext cx="64008" cy="2697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00216" y="1920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4B"/>
                </a:solidFill>
              </a:rPr>
              <a:t>cost_simulate_unsub_cost() + cost_plot_simulated_unsub_costs()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0216" y="2212848"/>
            <a:ext cx="2514600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Runs a Cartesian parameter grid over growth rates and conversion rates to model cost uncertainty. Visualised as an interactive Plotly heatmap (Lead Cost Simulation).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0" y="274320"/>
            <a:ext cx="2926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0" b="1" dirty="0">
                <a:solidFill>
                  <a:srgbClr val="3D5A99">
                    <a:alpha val="40000"/>
                  </a:srgbClr>
                </a:solidFill>
              </a:rPr>
              <a:t>02</a:t>
            </a:r>
            <a:endParaRPr lang="en-US" sz="16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3D5A99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CADCFC"/>
                </a:solidFill>
              </a:rPr>
              <a:t>STEP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Data Layer &amp;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Database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2: Data Layer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D5A99"/>
                </a:solidFill>
              </a:rPr>
              <a:t>database.py  —  SQLite CRM with multi-table join and feature engineering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024128"/>
            <a:ext cx="269748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024128"/>
            <a:ext cx="2697480" cy="34747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29768" y="1060704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Subscribers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" y="14356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• mailchimp_id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" y="16916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• user_email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4632" y="19476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• member_rating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" y="22037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• optin_time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4632" y="245973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• country_code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27832" y="1024128"/>
            <a:ext cx="269748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27832" y="1024128"/>
            <a:ext cx="2697480" cy="34747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37560" y="1060704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Tags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2424" y="14356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• mailchimp_id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92424" y="16916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• tag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35624" y="1024128"/>
            <a:ext cx="269748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135624" y="1024128"/>
            <a:ext cx="2697480" cy="34747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45352" y="1060704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Transactions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00216" y="14356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• user_email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00216" y="16916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• ...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3090672"/>
            <a:ext cx="8503920" cy="347472"/>
          </a:xfrm>
          <a:prstGeom prst="rect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3127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Data Processing Pipeline  →  db_read_and_process_els_data()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84048" y="3602736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" y="3557016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Join Subscribers ⟕ Tags (tag_count aggregation)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84048" y="3822192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8640" y="3776472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Extract email_provider from user_email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84048" y="4041648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48640" y="399592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Calculate optin_days (recency feature)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84048" y="4261104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4215384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Compute tag_count_by_optin_day (engagement rate)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773168" y="3602736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37760" y="3557016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Pivot tags to wide binary columns (tag_*)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73168" y="3822192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937760" y="3776472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Filter low-sale countries → label as 'Other'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773168" y="4041648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937760" y="399592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Add made_purchase label from Transactions join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0" y="274320"/>
            <a:ext cx="2926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0" b="1" dirty="0">
                <a:solidFill>
                  <a:srgbClr val="3D5A99">
                    <a:alpha val="40000"/>
                  </a:srgbClr>
                </a:solidFill>
              </a:rPr>
              <a:t>03</a:t>
            </a:r>
            <a:endParaRPr lang="en-US" sz="16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3D5A99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CADCFC"/>
                </a:solidFill>
              </a:rPr>
              <a:t>STEP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Exploratory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Data Analysis</a:t>
            </a:r>
            <a:endParaRPr lang="en-US"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3: Exploratory Data Analysis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D5A99"/>
                </a:solidFill>
              </a:rPr>
              <a:t>exploratory.py  —  Understanding purchase drivers across categorical and numeric features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024128"/>
            <a:ext cx="4160520" cy="3520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024128"/>
            <a:ext cx="4160520" cy="384048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912" y="106070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explore_sales_by_category()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D5A99"/>
                </a:solidFill>
              </a:rPr>
              <a:t>Input: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463040" y="15361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Subscribers DataFrame + category column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0482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D5A99"/>
                </a:solidFill>
              </a:rPr>
              <a:t>Groups by: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463040" y="204825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country_code, member_rating, etc.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56032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D5A99"/>
                </a:solidFill>
              </a:rPr>
              <a:t>Outputs: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463040" y="256032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sales count, prop_in_group, prop_overall, prop_cumsum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07238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D5A99"/>
                </a:solidFill>
              </a:rPr>
              <a:t>Used for: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63040" y="307238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Identifying top-converting countries &amp; ratings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5844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D5A99"/>
                </a:solidFill>
              </a:rPr>
              <a:t>Business use: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463040" y="358444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Filter countries with ≥ 6 sales to reduce noise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024128"/>
            <a:ext cx="4160520" cy="3520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63440" y="1024128"/>
            <a:ext cx="4160520" cy="384048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91456" y="106070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explore_sales_by_numeric()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91456" y="15361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Input: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797296" y="153619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Subscribers DataFrame + numeric column(s)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91456" y="20482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Groups by: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797296" y="204825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made_purchase (0 / 1 binary target)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91456" y="256032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Outputs: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97296" y="256032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Quantile statistics (10th, 50th, 90th percentile)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91456" y="307238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Key feature: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797296" y="307238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tag_count — more tags = higher purchase signal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91456" y="35844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Business use: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797296" y="35844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Segment high-engagement from passive subscribers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0" y="274320"/>
            <a:ext cx="2926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0" b="1" dirty="0">
                <a:solidFill>
                  <a:srgbClr val="3D5A99">
                    <a:alpha val="40000"/>
                  </a:srgbClr>
                </a:solidFill>
              </a:rPr>
              <a:t>04</a:t>
            </a:r>
            <a:endParaRPr lang="en-US" sz="16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3D5A99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CADCFC"/>
                </a:solidFill>
              </a:rPr>
              <a:t>STEP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ML Modeling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Pipeline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Model Training: PyCaret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D5A99"/>
                </a:solidFill>
              </a:rPr>
              <a:t>Experiment configuration — 19,919 subscribers, 52 → 73 features after preprocessing</a:t>
            </a:r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0"/>
            <a:ext cx="3566160" cy="3383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983480" y="1005840"/>
            <a:ext cx="38404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983480" y="1005840"/>
            <a:ext cx="64008" cy="3383280"/>
          </a:xfrm>
          <a:prstGeom prst="rect">
            <a:avLst/>
          </a:prstGeom>
          <a:solidFill>
            <a:srgbClr val="3D5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38928" y="107899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F4B"/>
                </a:solidFill>
              </a:rPr>
              <a:t>Experiment Configuration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8928" y="1426464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5A99"/>
                </a:solidFill>
              </a:rPr>
              <a:t>Target variable: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made_purchase  (binary)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8928" y="171907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5A99"/>
                </a:solidFill>
              </a:rPr>
              <a:t>Dataset shape: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171907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19,919 rows × 52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201168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5A99"/>
                </a:solidFill>
              </a:rPr>
              <a:t>After preprocessing: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01168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19,919 rows × 73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230428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5A99"/>
                </a:solidFill>
              </a:rPr>
              <a:t>Train / Test split: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30428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15,935 / 3,984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2596896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5A99"/>
                </a:solidFill>
              </a:rPr>
              <a:t>Numeric features: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59689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49  |  Categorical: 1  |  Ordinal: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8" y="2889504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5A99"/>
                </a:solidFill>
              </a:rPr>
              <a:t>Cross-validation: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28895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StratifiedKFold, 5 folds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318211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5A99"/>
                </a:solidFill>
              </a:rPr>
              <a:t>Imputation: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318211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Numeric: mean  |  Categorical: mode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38928" y="347472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5A99"/>
                </a:solidFill>
              </a:rPr>
              <a:t>Encoding: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347472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Ordinal (member_rating) + OneHot (country_code)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8" y="376732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5A99"/>
                </a:solidFill>
              </a:rPr>
              <a:t>Experiment tracker: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5392" y="376732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MLflowLogger → email_lead_scoring_0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38928" y="4059935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5A99"/>
                </a:solidFill>
              </a:rPr>
              <a:t>Random state: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65392" y="4059935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123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4: Machine Learning Modeling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i="1" dirty="0">
                <a:solidFill>
                  <a:srgbClr val="3D5A99"/>
                </a:solidFill>
              </a:rPr>
              <a:t>modeling.py  —  PyCaret AutoML, XGBoost pipelines, Blended Ensemble, and MLflow tracking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75488" y="2171700"/>
            <a:ext cx="4114800" cy="107899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23471" y="2159575"/>
            <a:ext cx="64008" cy="1078992"/>
          </a:xfrm>
          <a:prstGeom prst="rect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2158096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4B"/>
                </a:solidFill>
              </a:rPr>
              <a:t>XGBoost (Tuned)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" y="2394753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xgb_model_tuned.pkl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69882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Gradient boosted trees, hyperparameter tuned via PyCaret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90872" y="1024128"/>
            <a:ext cx="4114800" cy="107899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90872" y="1024128"/>
            <a:ext cx="64008" cy="1078992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73752" y="111556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4B"/>
                </a:solidFill>
              </a:rPr>
              <a:t>CatBoost (Tuned)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73752" y="140817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catboost_model_tuned.pkl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73752" y="1609344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Categorical feature-native boosting model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90872" y="2212848"/>
            <a:ext cx="4114800" cy="107899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90872" y="2212848"/>
            <a:ext cx="64008" cy="1078992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73752" y="230428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4B"/>
                </a:solidFill>
              </a:rPr>
              <a:t>Blended Ensemble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73752" y="2596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blended_models_final.pkl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73752" y="2798064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Weighted blend of top PyCaret models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" y="1040130"/>
            <a:ext cx="4114800" cy="107899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14478" y="1047755"/>
            <a:ext cx="64008" cy="1078992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2064" y="105841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A1F4B"/>
                </a:solidFill>
              </a:rPr>
              <a:t>XGBoost Pipeline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1292639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pipeline_xgb.pkl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1596153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Production sklearn pipeline with preprocessing + XGBoost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4 (cont.): MLflow Experiment Tracking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D5A99"/>
                </a:solidFill>
              </a:rPr>
              <a:t>Automated logging of model runs, AUC metrics, and artifact versioning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47472" y="1051560"/>
            <a:ext cx="1508760" cy="1371600"/>
          </a:xfrm>
          <a:prstGeom prst="rect">
            <a:avLst/>
          </a:prstGeom>
          <a:solidFill>
            <a:srgbClr val="3D5A99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" y="117043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Train Models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8912" y="171907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</a:rPr>
              <a:t>PyCaret AutoML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856232" y="1673352"/>
            <a:ext cx="182880" cy="36576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39112" y="1051560"/>
            <a:ext cx="1508760" cy="1371600"/>
          </a:xfrm>
          <a:prstGeom prst="rect">
            <a:avLst/>
          </a:prstGeom>
          <a:solidFill>
            <a:srgbClr val="F4A261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130552" y="117043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Log Runs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30552" y="171907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</a:rPr>
              <a:t>mlflow.search_runs()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547872" y="1673352"/>
            <a:ext cx="182880" cy="36576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30752" y="1051560"/>
            <a:ext cx="1508760" cy="1371600"/>
          </a:xfrm>
          <a:prstGeom prst="rect">
            <a:avLst/>
          </a:prstGeom>
          <a:solidFill>
            <a:srgbClr val="14B8A6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822192" y="117043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Rank by AUC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22192" y="171907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</a:rPr>
              <a:t>mlflow_get_best_run()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239512" y="1673352"/>
            <a:ext cx="182880" cy="36576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22392" y="1051560"/>
            <a:ext cx="1508760" cy="1371600"/>
          </a:xfrm>
          <a:prstGeom prst="rect">
            <a:avLst/>
          </a:prstGeom>
          <a:solidFill>
            <a:srgbClr val="9B5DE5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513832" y="117043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Load Best Model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13832" y="171907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</a:rPr>
              <a:t>mlflow.pyfunc.load_model()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931152" y="1673352"/>
            <a:ext cx="182880" cy="36576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114032" y="1051560"/>
            <a:ext cx="1508760" cy="137160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205472" y="1170432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Score Leads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205472" y="171907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</a:rPr>
              <a:t>mlflow_score_leads()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2651760"/>
            <a:ext cx="8503920" cy="347472"/>
          </a:xfrm>
          <a:prstGeom prst="rect">
            <a:avLst/>
          </a:prstGeom>
          <a:solidFill>
            <a:srgbClr val="E8E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2688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Key Functions in modeling.py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3081528"/>
            <a:ext cx="850392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" y="3081528"/>
            <a:ext cx="54864" cy="566928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75488" y="3108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4B"/>
                </a:solidFill>
              </a:rPr>
              <a:t>model_score_leads(data, model_path)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75488" y="33467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Loads PyCaret model and generates lead_score = 1 − prediction_score. Validates required columns before scoring.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0040" y="3703320"/>
            <a:ext cx="850392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20040" y="3703320"/>
            <a:ext cx="54864" cy="566928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75488" y="37307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4B"/>
                </a:solidFill>
              </a:rPr>
              <a:t>mlflow_get_best_run(experiment_name, n, metric)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5488" y="39684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Queries MLflow experiment runs, filters by tag source (finalize_model), ranks by AUC descending.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0040" y="4325112"/>
            <a:ext cx="850392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20040" y="4325112"/>
            <a:ext cx="54864" cy="566928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75488" y="43525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4B"/>
                </a:solidFill>
              </a:rPr>
              <a:t>mlflow_score_leads(data, run_id)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5488" y="45902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Loads a model from an MLflow run ID using pyfunc. Handles both standard predict and model_impl fallback. Returns scores merged with original data.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Best Model: Precision-Recall Curve &amp; Calibration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D5A99"/>
                </a:solidFill>
              </a:rPr>
              <a:t>Avg. precision = 0.42  |  Calibration plot shows prediction probability reliability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F4B"/>
                </a:solidFill>
              </a:rPr>
              <a:t>Precision-Recall Curve  (avg. precision = 0.42)</a:t>
            </a:r>
          </a:p>
        </p:txBody>
      </p:sp>
      <p:pic>
        <p:nvPicPr>
          <p:cNvPr id="7" name="Picture 6" descr="im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61872"/>
            <a:ext cx="429768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46320" y="960120"/>
            <a:ext cx="40233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1A1F4B"/>
                </a:solidFill>
              </a:rPr>
              <a:t>Calibration Plot (</a:t>
            </a:r>
            <a:r>
              <a:rPr lang="en-US" sz="1100" b="1" dirty="0">
                <a:solidFill>
                  <a:srgbClr val="1A1F4B"/>
                </a:solidFill>
              </a:rPr>
              <a:t>Gradient Boosting Classifier</a:t>
            </a:r>
            <a:r>
              <a:rPr sz="1100" b="1" i="0" dirty="0">
                <a:solidFill>
                  <a:srgbClr val="1A1F4B"/>
                </a:solidFill>
              </a:rPr>
              <a:t>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4507992"/>
            <a:ext cx="8503920" cy="411480"/>
          </a:xfrm>
          <a:prstGeom prst="rect">
            <a:avLst/>
          </a:prstGeom>
          <a:solidFill>
            <a:srgbClr val="E8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4507992"/>
            <a:ext cx="54864" cy="4114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The model trades recall for precision — ideal for lead scoring where targeting false positives is costly. Calibration shows probability estimates are roughly reliable in the 0.2–0.5 range.</a:t>
            </a:r>
          </a:p>
        </p:txBody>
      </p:sp>
      <p:pic>
        <p:nvPicPr>
          <p:cNvPr id="13" name="Picture 12" descr="A graph with blue lines and dots&#10;&#10;AI-generated content may be incorrect.">
            <a:extLst>
              <a:ext uri="{FF2B5EF4-FFF2-40B4-BE49-F238E27FC236}">
                <a16:creationId xmlns:a16="http://schemas.microsoft.com/office/drawing/2014/main" id="{C37208A0-91D9-E941-876A-C064D6B81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261872"/>
            <a:ext cx="4389121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Best Model: Feature Importance &amp; Classification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D5A99"/>
                </a:solidFill>
              </a:rPr>
              <a:t>tag_count dominates at ~50% importance  |  Class 1 precision 84.8%, recall 14.6%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F4B"/>
                </a:solidFill>
              </a:rPr>
              <a:t>Feature Importance (Top 10)</a:t>
            </a:r>
          </a:p>
        </p:txBody>
      </p:sp>
      <p:pic>
        <p:nvPicPr>
          <p:cNvPr id="7" name="Picture 6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61872"/>
            <a:ext cx="429768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46320" y="9601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F4B"/>
                </a:solidFill>
              </a:rPr>
              <a:t>Classification Report (Heatmap)</a:t>
            </a:r>
          </a:p>
        </p:txBody>
      </p:sp>
      <p:pic>
        <p:nvPicPr>
          <p:cNvPr id="9" name="Picture 8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261872"/>
            <a:ext cx="3977639" cy="28346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846320" y="4160520"/>
            <a:ext cx="3977639" cy="658368"/>
          </a:xfrm>
          <a:prstGeom prst="rect">
            <a:avLst/>
          </a:prstGeom>
          <a:solidFill>
            <a:srgbClr val="E8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46320" y="4160520"/>
            <a:ext cx="54864" cy="6583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83480" y="4178808"/>
            <a:ext cx="374903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F4B"/>
                </a:solidFill>
              </a:rPr>
              <a:t>Class 0:  Precision 0.958  |  Recall 0.999  |  F1 0.978  (3,792 samples)
Class 1:  Precision 0.848  |  Recall 0.146  |  F1 0.249  (192 samples)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Best Model: GradientBoostingClassifier —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D5A99"/>
                </a:solidFill>
              </a:rPr>
              <a:t>After refitting with full training dataset  |  macro-average AUC = 0.84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F4B"/>
                </a:solidFill>
              </a:rPr>
              <a:t>ROC Curve  (AUC = 0.84)</a:t>
            </a:r>
          </a:p>
        </p:txBody>
      </p:sp>
      <p:pic>
        <p:nvPicPr>
          <p:cNvPr id="7" name="Picture 6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61872"/>
            <a:ext cx="429768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46320" y="9601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F4B"/>
                </a:solidFill>
              </a:rPr>
              <a:t>Confusion Matrix</a:t>
            </a:r>
          </a:p>
        </p:txBody>
      </p:sp>
      <p:pic>
        <p:nvPicPr>
          <p:cNvPr id="9" name="Picture 8" descr="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261872"/>
            <a:ext cx="3977639" cy="28346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846320" y="4160520"/>
            <a:ext cx="3977639" cy="658368"/>
          </a:xfrm>
          <a:prstGeom prst="rect">
            <a:avLst/>
          </a:prstGeom>
          <a:solidFill>
            <a:srgbClr val="E8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46320" y="4160520"/>
            <a:ext cx="54864" cy="65836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83480" y="418795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TN 3,787  |  FP 5  |  FN 164  |  TP 28
High precision on positives (84.8%) — very few false alarms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Project Summary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20040" y="84124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</a:rPr>
              <a:t>Email Lead Scoring — end-to-end ML system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371600"/>
            <a:ext cx="4160520" cy="1051560"/>
          </a:xfrm>
          <a:prstGeom prst="rect">
            <a:avLst/>
          </a:prstGeom>
          <a:solidFill>
            <a:srgbClr val="3D5A99">
              <a:alpha val="75000"/>
            </a:srgbClr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29768" y="1444752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4A261"/>
                </a:solidFill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78408" y="144475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</a:rPr>
              <a:t>Business-First Design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8408" y="1792224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Project starts with cost simulation to quantify the financial impact of lead churn before any modelling begins.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4160520" cy="1051560"/>
          </a:xfrm>
          <a:prstGeom prst="rect">
            <a:avLst/>
          </a:prstGeom>
          <a:solidFill>
            <a:srgbClr val="3D5A99">
              <a:alpha val="75000"/>
            </a:srgbClr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64608" y="1444752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4A261"/>
                </a:solidFill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413248" y="144475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</a:rPr>
              <a:t>Clean Data Architecture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13248" y="1792224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SQLite CRM with Subscribers, Tags &amp; Transactions tables; feature engineering produces engagement-rate features.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2542032"/>
            <a:ext cx="4160520" cy="1051560"/>
          </a:xfrm>
          <a:prstGeom prst="rect">
            <a:avLst/>
          </a:prstGeom>
          <a:solidFill>
            <a:srgbClr val="3D5A99">
              <a:alpha val="75000"/>
            </a:srgbClr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29768" y="2615184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4A261"/>
                </a:solidFill>
              </a:rPr>
              <a:t>03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78408" y="2615184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</a:rPr>
              <a:t>Multi-Model Comparison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8408" y="2962656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XGBoost, CatBoost, AdaBoost, blended ensemble (CalibratedClassifierCV) — all tracked via MLflow with AUC ranking.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2542032"/>
            <a:ext cx="4160520" cy="1051560"/>
          </a:xfrm>
          <a:prstGeom prst="rect">
            <a:avLst/>
          </a:prstGeom>
          <a:solidFill>
            <a:srgbClr val="3D5A99">
              <a:alpha val="75000"/>
            </a:srgbClr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64608" y="2615184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4A261"/>
                </a:solidFill>
              </a:rPr>
              <a:t>04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413248" y="2615184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</a:rPr>
              <a:t>Value-Optimised Thresholding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13248" y="2962656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100-point threshold sweep with expected-value calculus and a monthly-sales safeguard ensures real ROI.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0" y="3794760"/>
            <a:ext cx="4572000" cy="1051560"/>
          </a:xfrm>
          <a:prstGeom prst="rect">
            <a:avLst/>
          </a:prstGeom>
          <a:solidFill>
            <a:srgbClr val="3D5A99">
              <a:alpha val="75000"/>
            </a:srgbClr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395728" y="3867912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4A261"/>
                </a:solidFill>
              </a:rPr>
              <a:t>05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2944368" y="3867912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</a:rPr>
              <a:t>Production-Ready Deployment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944368" y="4215384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FastAPI backend on Google Cloud Run + Streamlit frontend for marketing team self-service — fully deployable.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0" y="274320"/>
            <a:ext cx="2926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0" b="1" dirty="0">
                <a:solidFill>
                  <a:srgbClr val="3D5A99">
                    <a:alpha val="40000"/>
                  </a:srgbClr>
                </a:solidFill>
              </a:rPr>
              <a:t>05</a:t>
            </a:r>
            <a:endParaRPr lang="en-US" sz="16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3D5A99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CADCFC"/>
                </a:solidFill>
              </a:rPr>
              <a:t>STEP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Lead Strategy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&amp; Optimization</a:t>
            </a:r>
            <a:endParaRPr lang="en-US" sz="3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5: Lead Strategy &amp; Expected Value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D5A99"/>
                </a:solidFill>
              </a:rPr>
              <a:t>lead_strategy.py  —  Threshold optimization to maximize business return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024128"/>
            <a:ext cx="3657600" cy="3520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024128"/>
            <a:ext cx="3657600" cy="3657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060704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Lead Segmentation Logic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383280" cy="731520"/>
          </a:xfrm>
          <a:prstGeom prst="rect">
            <a:avLst/>
          </a:prstGeom>
          <a:solidFill>
            <a:srgbClr val="FFF0E0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15727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</a:rPr>
              <a:t>HOT LEAD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18105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gain ≤ threshold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→ Target with sales emails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3383280" cy="731520"/>
          </a:xfrm>
          <a:prstGeom prst="rect">
            <a:avLst/>
          </a:prstGeom>
          <a:solidFill>
            <a:srgbClr val="E8F5F5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3957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COLD LEAD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6334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gain &gt; threshold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→ Withhold sales emails (nurture instead)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163824"/>
            <a:ext cx="3383280" cy="1234440"/>
          </a:xfrm>
          <a:prstGeom prst="rect">
            <a:avLst/>
          </a:prstGeom>
          <a:solidFill>
            <a:srgbClr val="E8E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32186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Ranking Approach: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566160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1520" y="352958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Sort by lead_score descending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1520" y="37947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Assign cumulative gain (% of total buyers captured)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4096512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" y="405993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Apply threshold cut-off to generate categories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06240" y="1024128"/>
            <a:ext cx="4572000" cy="3520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206240" y="1024128"/>
            <a:ext cx="4572000" cy="365760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343400" y="106070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Expected Value Components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43400" y="1508760"/>
            <a:ext cx="4297680" cy="576072"/>
          </a:xfrm>
          <a:prstGeom prst="rect">
            <a:avLst/>
          </a:prstGeom>
          <a:solidFill>
            <a:srgbClr val="E8EE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480560" y="155448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+ Savings: Cold Not Targeted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80560" y="1792224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Prevents unsub-driven customer loss from unlikely buyers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43400" y="2176272"/>
            <a:ext cx="4297680" cy="576072"/>
          </a:xfrm>
          <a:prstGeom prst="rect">
            <a:avLst/>
          </a:prstGeom>
          <a:solidFill>
            <a:srgbClr val="E8EE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480560" y="222199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+ Sales: Hot Leads Retained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480560" y="2459736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Revenue from email sales to high-probability purchasers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43400" y="2843784"/>
            <a:ext cx="4297680" cy="576072"/>
          </a:xfrm>
          <a:prstGeom prst="rect">
            <a:avLst/>
          </a:prstGeom>
          <a:solidFill>
            <a:srgbClr val="E8EE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480560" y="2889504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53E3E"/>
                </a:solidFill>
              </a:rPr>
              <a:t>− Cost: Missed Cold Purchases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480560" y="312724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Revenue foregone by not emailing cold leads who buy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43400" y="3511296"/>
            <a:ext cx="4297680" cy="576072"/>
          </a:xfrm>
          <a:prstGeom prst="rect">
            <a:avLst/>
          </a:prstGeom>
          <a:solidFill>
            <a:srgbClr val="E8EE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480560" y="3557016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= Expected Value (EV)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80560" y="37947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Optimise EV across 100 threshold values (0 → 1)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5 (cont.): Threshold Optimization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D5A99"/>
                </a:solidFill>
              </a:rPr>
              <a:t>Finding the optimal Hot/Cold cut-off that maximises expected value with a sales safeguard</a:t>
            </a:r>
            <a:endParaRPr lang="en-US" sz="11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20040" y="1024128"/>
          <a:ext cx="521208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715000" y="1024128"/>
            <a:ext cx="310896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715000" y="1024128"/>
            <a:ext cx="3108960" cy="365760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852160" y="10607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Optimization Logic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852160" y="15087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D5A99"/>
                </a:solidFill>
              </a:rPr>
              <a:t>Primary: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173736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Maximise expected_value across 100 thresholds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852160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D5A99"/>
                </a:solidFill>
              </a:rPr>
              <a:t>Safeguard: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852160" y="22860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Monthly sales must stay ≥ 90% of max (configurable)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852160" y="26060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D5A99"/>
                </a:solidFill>
              </a:rPr>
              <a:t>Override: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852160" y="2834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If optimum fails safeguard → pick smallest safe threshold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85216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D5A99"/>
                </a:solidFill>
              </a:rPr>
              <a:t>Output: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852160" y="33832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lead_strategy_df, expected_value, thresh_plot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20040" y="3858768"/>
            <a:ext cx="8503920" cy="100584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02920" y="3904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ADCFC"/>
                </a:solidFill>
              </a:rPr>
              <a:t>Key Output Metrics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24528"/>
            <a:ext cx="1920240" cy="502920"/>
          </a:xfrm>
          <a:prstGeom prst="rect">
            <a:avLst/>
          </a:prstGeom>
          <a:solidFill>
            <a:srgbClr val="3D5A99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57200" y="42245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expected_value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560320" y="4224528"/>
            <a:ext cx="1920240" cy="502920"/>
          </a:xfrm>
          <a:prstGeom prst="rect">
            <a:avLst/>
          </a:prstGeom>
          <a:solidFill>
            <a:srgbClr val="3D5A99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2560320" y="42245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expected_savings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663440" y="4224528"/>
            <a:ext cx="1920240" cy="502920"/>
          </a:xfrm>
          <a:prstGeom prst="rect">
            <a:avLst/>
          </a:prstGeom>
          <a:solidFill>
            <a:srgbClr val="3D5A99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4663440" y="42245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monthly_sales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6766560" y="4224528"/>
            <a:ext cx="1920240" cy="502920"/>
          </a:xfrm>
          <a:prstGeom prst="rect">
            <a:avLst/>
          </a:prstGeom>
          <a:solidFill>
            <a:srgbClr val="3D5A99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766560" y="42245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expected_customers_saved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3D5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0" y="274320"/>
            <a:ext cx="2743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0" b="1" i="0">
                <a:solidFill>
                  <a:srgbClr val="CADCFC"/>
                </a:solidFill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Model Training
Results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80467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</a:rPr>
              <a:t>XGBoost</a:t>
            </a:r>
            <a:r>
              <a:rPr sz="2200" b="1" i="0" dirty="0">
                <a:solidFill>
                  <a:srgbClr val="FFFFFF"/>
                </a:solidFill>
              </a:rPr>
              <a:t xml:space="preserve"> vs Blended — </a:t>
            </a:r>
            <a:r>
              <a:rPr sz="2200" b="1" i="0" dirty="0">
                <a:solidFill>
                  <a:srgbClr val="FFFFFF"/>
                </a:solidFill>
              </a:rPr>
              <a:t>Pipeline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5A99"/>
                </a:solidFill>
              </a:rPr>
              <a:t>XGBoost sklearn pipeline steps vs CalibratedClassifierCV blended ensemble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4389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1A1F4B"/>
                </a:solidFill>
              </a:rPr>
              <a:t>Pipeline (</a:t>
            </a:r>
            <a:r>
              <a:rPr sz="1100" b="1" i="0" dirty="0" err="1">
                <a:solidFill>
                  <a:srgbClr val="1A1F4B"/>
                </a:solidFill>
              </a:rPr>
              <a:t>sklearn</a:t>
            </a:r>
            <a:r>
              <a:rPr sz="1100" b="1" i="0" dirty="0">
                <a:solidFill>
                  <a:srgbClr val="1A1F4B"/>
                </a:solidFill>
              </a:rPr>
              <a:t xml:space="preserve"> steps: impute → encode → </a:t>
            </a:r>
            <a:r>
              <a:rPr sz="1100" b="1" i="0" dirty="0" err="1">
                <a:solidFill>
                  <a:srgbClr val="1A1F4B"/>
                </a:solidFill>
              </a:rPr>
              <a:t>XGBClassifier</a:t>
            </a:r>
            <a:r>
              <a:rPr sz="1100" b="1" i="0" dirty="0">
                <a:solidFill>
                  <a:srgbClr val="1A1F4B"/>
                </a:solidFill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960120"/>
            <a:ext cx="40233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1A1F4B"/>
                </a:solidFill>
              </a:rPr>
              <a:t xml:space="preserve">Blended Model Pipeline (→ </a:t>
            </a:r>
            <a:r>
              <a:rPr sz="1100" b="1" i="0" dirty="0" err="1">
                <a:solidFill>
                  <a:srgbClr val="1A1F4B"/>
                </a:solidFill>
              </a:rPr>
              <a:t>CalibratedClassifierCV</a:t>
            </a:r>
            <a:r>
              <a:rPr sz="1100" b="1" i="0" dirty="0">
                <a:solidFill>
                  <a:srgbClr val="1A1F4B"/>
                </a:solidFill>
              </a:rPr>
              <a:t>)</a:t>
            </a:r>
          </a:p>
        </p:txBody>
      </p:sp>
      <p:pic>
        <p:nvPicPr>
          <p:cNvPr id="8" name="Picture 7" descr="imag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80160"/>
            <a:ext cx="4297680" cy="3017520"/>
          </a:xfrm>
          <a:prstGeom prst="rect">
            <a:avLst/>
          </a:prstGeom>
        </p:spPr>
      </p:pic>
      <p:pic>
        <p:nvPicPr>
          <p:cNvPr id="9" name="Picture 8" descr="image_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17320"/>
            <a:ext cx="3977639" cy="1005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20040" y="4507992"/>
            <a:ext cx="8503920" cy="411480"/>
          </a:xfrm>
          <a:prstGeom prst="rect">
            <a:avLst/>
          </a:prstGeom>
          <a:solidFill>
            <a:srgbClr val="E8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4507992"/>
            <a:ext cx="54864" cy="4114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Both pipelines share the same preprocessing (imputation, ordinal + onehot encoding). The blended model wraps a Voting Ensemble in CalibratedClassifierCV for improved probability calibration.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Model Training: All-Models Comparison (PyCaret)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D5A99"/>
                </a:solidFill>
              </a:rPr>
              <a:t>14 classifiers benchmarked via 5-fold StratifiedKFold — ranked by AUC  |  Best: Gradient Boosting (AUC 0.7837)</a:t>
            </a:r>
          </a:p>
        </p:txBody>
      </p:sp>
      <p:pic>
        <p:nvPicPr>
          <p:cNvPr id="6" name="Picture 5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850392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Tuned Models: Cross-Validation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D5A99"/>
                </a:solidFill>
              </a:rPr>
              <a:t>XGBoost after hyperparameter tuning  vs  Blended ensemble  —  5-fold StratifiedKFold means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F4B"/>
                </a:solidFill>
              </a:rPr>
              <a:t>XGBoost After Tuning — CV Results
Mean AUC: 0.7877  |  Mean Accuracy: 0.9511</a:t>
            </a:r>
          </a:p>
        </p:txBody>
      </p:sp>
      <p:pic>
        <p:nvPicPr>
          <p:cNvPr id="7" name="Picture 6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71600"/>
            <a:ext cx="429768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46320" y="9601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F4B"/>
                </a:solidFill>
              </a:rPr>
              <a:t>Blended Models (Voting Ensemble) — CV Results
Mean AUC: 0.7914  |  Mean Accuracy: 0.9515</a:t>
            </a:r>
          </a:p>
        </p:txBody>
      </p:sp>
      <p:pic>
        <p:nvPicPr>
          <p:cNvPr id="9" name="Picture 8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71600"/>
            <a:ext cx="3977639" cy="21945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20040" y="3749039"/>
            <a:ext cx="8503920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3749039"/>
            <a:ext cx="54864" cy="1115568"/>
          </a:xfrm>
          <a:prstGeom prst="rect">
            <a:avLst/>
          </a:prstGeom>
          <a:solidFill>
            <a:srgbClr val="3D5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77647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5A99"/>
                </a:solidFill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77647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5A99"/>
                </a:solidFill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77647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5A99"/>
                </a:solidFill>
              </a:rPr>
              <a:t>Acc.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776472"/>
            <a:ext cx="4389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5A99"/>
                </a:solidFill>
              </a:rPr>
              <a:t>Note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" y="4023360"/>
            <a:ext cx="8394192" cy="237744"/>
          </a:xfrm>
          <a:prstGeom prst="rect">
            <a:avLst/>
          </a:prstGeom>
          <a:solidFill>
            <a:srgbClr val="E8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04164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F4B"/>
                </a:solidFill>
              </a:rPr>
              <a:t>Gradient Boosting (base)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0416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0.7837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40416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F4B"/>
                </a:solidFill>
              </a:rPr>
              <a:t>0.9516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041648"/>
            <a:ext cx="4389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Best initial model from PyCaret compare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" y="4270248"/>
            <a:ext cx="8394192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428853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F4B"/>
                </a:solidFill>
              </a:rPr>
              <a:t>XGBoost (tuned)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4288536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0.7877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4288536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F4B"/>
                </a:solidFill>
              </a:rPr>
              <a:t>0.9511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4288536"/>
            <a:ext cx="4389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Marginal AUC gain after hyperparameter tuning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4904" y="4517136"/>
            <a:ext cx="8394192" cy="237744"/>
          </a:xfrm>
          <a:prstGeom prst="rect">
            <a:avLst/>
          </a:prstGeom>
          <a:solidFill>
            <a:srgbClr val="E8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453542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F4B"/>
                </a:solidFill>
              </a:rPr>
              <a:t>Blended Ensemble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4535424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0.7914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535424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F4B"/>
                </a:solidFill>
              </a:rPr>
              <a:t>0.9515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4535424"/>
            <a:ext cx="4389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Best AUC — used for lead strategy optimization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XGBoost vs Blended — AUC / ROC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5A99"/>
                </a:solidFill>
              </a:rPr>
              <a:t>AUC improves from 0.84 (GradientBoosting) → 0.89 (CalibratedClassifierCV blended ensemble)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F4B"/>
                </a:solidFill>
              </a:rPr>
              <a:t>XGBoost / GradientBoosting ROC  (macro-avg AUC = 0.84)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96012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F4B"/>
                </a:solidFill>
              </a:rPr>
              <a:t>Blended Model ROC  (AUC = 0.89)  ▲ +5.9%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80160"/>
            <a:ext cx="4297680" cy="3017520"/>
          </a:xfrm>
          <a:prstGeom prst="rect">
            <a:avLst/>
          </a:prstGeom>
        </p:spPr>
      </p:pic>
      <p:pic>
        <p:nvPicPr>
          <p:cNvPr id="9" name="Picture 8" descr="image_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280160"/>
            <a:ext cx="3977639" cy="30175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20040" y="4507992"/>
            <a:ext cx="8503920" cy="411480"/>
          </a:xfrm>
          <a:prstGeom prst="rect">
            <a:avLst/>
          </a:prstGeom>
          <a:solidFill>
            <a:srgbClr val="E8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4507992"/>
            <a:ext cx="54864" cy="4114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Blended ensemble with calibration raises AUC from 0.84 → 0.89.  Micro-avg AUC rises from 0.98 → 0.99.  Stronger separation of buyers vs non-buyers.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XGBoost vs Blended — Confusion Matrix (Improved)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5A99"/>
                </a:solidFill>
              </a:rPr>
              <a:t>FP reduced 5→2  |  TP improved 28→34  |  Precision up, false alarms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F4B"/>
                </a:solidFill>
              </a:rPr>
              <a:t>GradientBoostingClassifier  —  TN 3787 | FP 5 | FN 164 | TP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96012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F4B"/>
                </a:solidFill>
              </a:rPr>
              <a:t>Blended Model  —  TN 3790 | FP 2 | FN 158 | TP 34 ▲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80160"/>
            <a:ext cx="4297680" cy="2926080"/>
          </a:xfrm>
          <a:prstGeom prst="rect">
            <a:avLst/>
          </a:prstGeom>
        </p:spPr>
      </p:pic>
      <p:pic>
        <p:nvPicPr>
          <p:cNvPr id="9" name="Picture 8" descr="image_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280160"/>
            <a:ext cx="3977639" cy="29260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20040" y="4507992"/>
            <a:ext cx="8503920" cy="411480"/>
          </a:xfrm>
          <a:prstGeom prst="rect">
            <a:avLst/>
          </a:prstGeom>
          <a:solidFill>
            <a:srgbClr val="E8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4507992"/>
            <a:ext cx="54864" cy="4114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Blended model cuts false positives by 60% (5→2) and increases true positives by 21% (28→34), reducing wasted email sends and capturing more buyers.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Blended Model — Calibration &amp; Classification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5A99"/>
                </a:solidFill>
              </a:rPr>
              <a:t>CalibratedClassifierCV wraps Voting Ensemble — improved probability reliability for lead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F4B"/>
                </a:solidFill>
              </a:rPr>
              <a:t>Calibration Plot  (Voting Classifier — reliability curve)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96012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F4B"/>
                </a:solidFill>
              </a:rPr>
              <a:t>Classification Report  —  Class 1: Precision 0.944 | Recall 0.177 | F1 0.298</a:t>
            </a:r>
          </a:p>
        </p:txBody>
      </p:sp>
      <p:pic>
        <p:nvPicPr>
          <p:cNvPr id="8" name="Picture 7" descr="imag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80160"/>
            <a:ext cx="4297680" cy="3017520"/>
          </a:xfrm>
          <a:prstGeom prst="rect">
            <a:avLst/>
          </a:prstGeom>
        </p:spPr>
      </p:pic>
      <p:pic>
        <p:nvPicPr>
          <p:cNvPr id="9" name="Picture 8" descr="image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89888"/>
            <a:ext cx="3977639" cy="30175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20040" y="4507992"/>
            <a:ext cx="8503920" cy="411480"/>
          </a:xfrm>
          <a:prstGeom prst="rect">
            <a:avLst/>
          </a:prstGeom>
          <a:solidFill>
            <a:srgbClr val="E8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4507992"/>
            <a:ext cx="54864" cy="41148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F4B"/>
                </a:solidFill>
              </a:rPr>
              <a:t>Calibration ensures predicted probabilities match observed outcomes (0.2–0.5 range reliable). Class 1 precision of 0.944 means very few false alarms when targeting hot leads.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Best Model: Lift &amp; Cumulative Gains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3D5A99"/>
                </a:solidFill>
              </a:rPr>
              <a:t>Class 1 (buyers) lift ~21× at the very top of the scored list — strong ranking 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F4B"/>
                </a:solidFill>
              </a:rPr>
              <a:t>Lift Curve</a:t>
            </a:r>
          </a:p>
        </p:txBody>
      </p:sp>
      <p:pic>
        <p:nvPicPr>
          <p:cNvPr id="7" name="Picture 6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61872"/>
            <a:ext cx="429768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46320" y="9601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F4B"/>
                </a:solidFill>
              </a:rPr>
              <a:t>Cumulative Gains Curve</a:t>
            </a:r>
          </a:p>
        </p:txBody>
      </p:sp>
      <p:pic>
        <p:nvPicPr>
          <p:cNvPr id="9" name="Picture 8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261872"/>
            <a:ext cx="3977639" cy="31089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20040" y="4507992"/>
            <a:ext cx="8503920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4507992"/>
            <a:ext cx="54864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4535424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Targeting the top 40% of scored leads captures ~80% of all buyers — enabling precise email suppression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0" y="274320"/>
            <a:ext cx="2926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0" b="1" dirty="0">
                <a:solidFill>
                  <a:srgbClr val="3D5A99">
                    <a:alpha val="40000"/>
                  </a:srgbClr>
                </a:solidFill>
              </a:rPr>
              <a:t>07</a:t>
            </a:r>
            <a:endParaRPr lang="en-US" sz="16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3D5A99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CADCFC"/>
                </a:solidFill>
              </a:rPr>
              <a:t>STEP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FastAPI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Backend</a:t>
            </a:r>
            <a:endParaRPr lang="en-US" sz="3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7: FastAPI Backend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D5A99"/>
                </a:solidFill>
              </a:rPr>
              <a:t>main.py  —  REST API exposing lead scoring and strategy endpoints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024128"/>
            <a:ext cx="850392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024128"/>
            <a:ext cx="694944" cy="566928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1024128"/>
            <a:ext cx="694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GET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78992" y="10607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4B"/>
                </a:solidFill>
              </a:rPr>
              <a:t>/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78992" y="131673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Animated HTML welcome page with link to /docs (Swagger UI)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1645920"/>
            <a:ext cx="850392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" y="1645920"/>
            <a:ext cx="694944" cy="566928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1645920"/>
            <a:ext cx="694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GET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78992" y="168249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4B"/>
                </a:solidFill>
              </a:rPr>
              <a:t>/get_email_subscribers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78992" y="193852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Returns all email subscribers from SQLite database as JSON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2267712"/>
            <a:ext cx="850392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0040" y="2267712"/>
            <a:ext cx="694944" cy="566928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2267712"/>
            <a:ext cx="694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8992" y="230428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4B"/>
                </a:solidFill>
              </a:rPr>
              <a:t>/data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256032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Accepts JSON lead data and echoes it back (data passthrough utility)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2889504"/>
            <a:ext cx="850392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20040" y="2889504"/>
            <a:ext cx="694944" cy="566928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0040" y="2889504"/>
            <a:ext cx="694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78992" y="29260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4B"/>
                </a:solidFill>
              </a:rPr>
              <a:t>/predict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78992" y="3182112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Scores leads using xgb_model_tuned.pkl; returns lead_score dict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3511296"/>
            <a:ext cx="850392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0040" y="3511296"/>
            <a:ext cx="694944" cy="566928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0040" y="3511296"/>
            <a:ext cx="694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78992" y="35478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4B"/>
                </a:solidFill>
              </a:rPr>
              <a:t>/predict_xgb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78992" y="3803904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Scores using sklearn pipeline_xgb.pkl; drops non-feature cols, returns probabilities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" y="4133088"/>
            <a:ext cx="850392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20040" y="4133088"/>
            <a:ext cx="694944" cy="566928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20040" y="4133088"/>
            <a:ext cx="694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78992" y="416966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4B"/>
                </a:solidFill>
              </a:rPr>
              <a:t>/calculate_lead_strategy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78992" y="442569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Full pipeline: score → optimize → return strategy DF, expected value, and threshold table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0" y="274320"/>
            <a:ext cx="2926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0" b="1" dirty="0">
                <a:solidFill>
                  <a:srgbClr val="3D5A99">
                    <a:alpha val="40000"/>
                  </a:srgbClr>
                </a:solidFill>
              </a:rPr>
              <a:t>08</a:t>
            </a:r>
            <a:endParaRPr lang="en-US" sz="16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3D5A99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CADCFC"/>
                </a:solidFill>
              </a:rPr>
              <a:t>STEP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Streamlit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Frontend</a:t>
            </a:r>
            <a:endParaRPr lang="en-US" sz="3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8: Streamlit Frontend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D5A99"/>
                </a:solidFill>
              </a:rPr>
              <a:t>app.py + helpers.py  —  Interactive self-service lead scoring for the marketing team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32104" y="1051560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2104" y="1051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1627632"/>
            <a:ext cx="1572768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1627632"/>
            <a:ext cx="1572768" cy="329184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93192" y="166420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Select File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29968"/>
            <a:ext cx="13898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Use default leads.csv or upload a custom subscriber CSV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892808" y="1810512"/>
            <a:ext cx="146304" cy="36576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51176" y="1051560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51176" y="1051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039112" y="1627632"/>
            <a:ext cx="1572768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039112" y="1627632"/>
            <a:ext cx="1572768" cy="329184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112264" y="166420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Configure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30552" y="2029968"/>
            <a:ext cx="13898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Set monthly sales estimate &amp; sales safeguard % via UI controls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11880" y="1810512"/>
            <a:ext cx="146304" cy="36576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270248" y="1051560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70248" y="1051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758184" y="1627632"/>
            <a:ext cx="1572768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758184" y="1627632"/>
            <a:ext cx="1572768" cy="329184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831336" y="166420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Run Analysis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49624" y="2029968"/>
            <a:ext cx="13898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POST to FastAPI /calculate_lead_strategy endpoint with spinner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30952" y="1810512"/>
            <a:ext cx="146304" cy="36576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989320" y="1051560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89320" y="1051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477256" y="1627632"/>
            <a:ext cx="1572768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477256" y="1627632"/>
            <a:ext cx="1572768" cy="329184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550408" y="166420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View Results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568696" y="2029968"/>
            <a:ext cx="13898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Expected value summary, interactive Plotly threshold chart, lead table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050024" y="1810512"/>
            <a:ext cx="146304" cy="36576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7708392" y="1051560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708392" y="1051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196328" y="1627632"/>
            <a:ext cx="1572768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196328" y="1627632"/>
            <a:ext cx="1572768" cy="329184"/>
          </a:xfrm>
          <a:prstGeom prst="rect">
            <a:avLst/>
          </a:prstGeom>
          <a:solidFill>
            <a:srgbClr val="3D5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269480" y="166420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Download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287768" y="2029968"/>
            <a:ext cx="13898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Export full lead_strategy CSV with Hot/Cold categories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4050792"/>
            <a:ext cx="8503920" cy="347472"/>
          </a:xfrm>
          <a:prstGeom prst="rect">
            <a:avLst/>
          </a:prstGeom>
          <a:solidFill>
            <a:srgbClr val="E8E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57200" y="4087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Key Features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84048" y="4526280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48640" y="4489704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st.cache_data() for fast data reload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773168" y="4526280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937760" y="4489704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Plotly interactive charts via st.plotly_chart()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84048" y="4745736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48640" y="470916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Configurable parameters (sales, safeguard %)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773168" y="4745736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937760" y="470916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4B"/>
                </a:solidFill>
              </a:rPr>
              <a:t>CSV download with st.download_button()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Deployment &amp; Tech Stack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6675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D5A99"/>
                </a:solidFill>
              </a:rPr>
              <a:t>Production-ready setup with Google Cloud and modern Python ecosystem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78892" y="1024128"/>
            <a:ext cx="4160520" cy="3520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20040" y="1024128"/>
            <a:ext cx="4160520" cy="3657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0607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Deployment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" y="153619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D5A99"/>
                </a:solidFill>
              </a:rPr>
              <a:t>Backend Server: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" y="17373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Google Cloud Run (containerised FastAPI)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uvicorn, port 8080, asyncio event loop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75488" y="208483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D5A99"/>
                </a:solidFill>
              </a:rPr>
              <a:t>Frontend: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5488" y="22860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1A1F4B"/>
                </a:solidFill>
              </a:rPr>
              <a:t>Google Cloud Run (</a:t>
            </a:r>
            <a:r>
              <a:rPr lang="en-US" sz="950" dirty="0" err="1">
                <a:solidFill>
                  <a:srgbClr val="1A1F4B"/>
                </a:solidFill>
              </a:rPr>
              <a:t>containerised</a:t>
            </a:r>
            <a:r>
              <a:rPr lang="en-US" sz="950" dirty="0">
                <a:solidFill>
                  <a:srgbClr val="1A1F4B"/>
                </a:solidFill>
              </a:rPr>
              <a:t xml:space="preserve"> </a:t>
            </a:r>
            <a:r>
              <a:rPr lang="en-US" sz="950" dirty="0" err="1">
                <a:solidFill>
                  <a:srgbClr val="1A1F4B"/>
                </a:solidFill>
              </a:rPr>
              <a:t>Streamlit</a:t>
            </a:r>
            <a:r>
              <a:rPr lang="en-US" sz="950" dirty="0">
                <a:solidFill>
                  <a:srgbClr val="1A1F4B"/>
                </a:solidFill>
              </a:rPr>
              <a:t xml:space="preserve"> app)</a:t>
            </a:r>
            <a:endParaRPr lang="en-US" sz="950" dirty="0"/>
          </a:p>
          <a:p>
            <a:r>
              <a:rPr lang="en-US" sz="950" dirty="0" err="1">
                <a:solidFill>
                  <a:srgbClr val="1A1F4B"/>
                </a:solidFill>
              </a:rPr>
              <a:t>uvicorn</a:t>
            </a:r>
            <a:r>
              <a:rPr lang="en-US" sz="950" dirty="0">
                <a:solidFill>
                  <a:srgbClr val="1A1F4B"/>
                </a:solidFill>
              </a:rPr>
              <a:t xml:space="preserve">, port 8501, </a:t>
            </a:r>
            <a:r>
              <a:rPr lang="en-US" sz="950" dirty="0" err="1">
                <a:solidFill>
                  <a:srgbClr val="1A1F4B"/>
                </a:solidFill>
              </a:rPr>
              <a:t>asyncio</a:t>
            </a:r>
            <a:r>
              <a:rPr lang="en-US" sz="950" dirty="0">
                <a:solidFill>
                  <a:srgbClr val="1A1F4B"/>
                </a:solidFill>
              </a:rPr>
              <a:t xml:space="preserve"> event loop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7200" y="2732407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D5A99"/>
                </a:solidFill>
              </a:rPr>
              <a:t>Config: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076957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CORS enabled for all origins (*)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Environment variables via .env file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75488" y="37307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D5A99"/>
                </a:solidFill>
              </a:rPr>
              <a:t>Google SDK: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" y="39319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google-cloud-sdk included for GCP deployment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gcloud, gsutil, bq CLI tools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1024128"/>
            <a:ext cx="4160520" cy="3520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63440" y="1024128"/>
            <a:ext cx="4160520" cy="3657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00600" y="10607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Core Tech Stack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28032" y="15361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Data: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28032" y="17373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pandas 2.1.4, numpy 1.26.4, SQLAlchemy 2.0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28032" y="20848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ML / Modeling: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28032" y="22860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pycaret 3.3.1, xgboost 2.0.3, catboost 1.2.5,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scikitlearn 1.4.2, imbalanced-learn 0.12.2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28032" y="26334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Experiment Tracking: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28032" y="28346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mlflow 2.12.1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28032" y="31821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API Framework: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28032" y="338328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fastapi 0.110.2, uvicorn 0.29.0, pydantic 2.7.0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28032" y="37307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Visualisation: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28032" y="39319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plotly 5.21.0, plotly-resampler 0.10.0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28032" y="42793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Utilities: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28032" y="44805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F4B"/>
                </a:solidFill>
              </a:rPr>
              <a:t>pyjanitor 0.27.0, pandas-flavor 0.6.0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3D5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943600" y="0"/>
            <a:ext cx="54864" cy="51435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521208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64008" cy="32004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10058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F4B"/>
                </a:solidFill>
              </a:rPr>
              <a:t>Live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630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5A99"/>
                </a:solidFill>
              </a:rPr>
              <a:t>Email Lead Scoring — Streamlit Frontend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20240"/>
            <a:ext cx="4663440" cy="594360"/>
          </a:xfrm>
          <a:prstGeom prst="rect">
            <a:avLst/>
          </a:prstGeom>
          <a:solidFill>
            <a:srgbClr val="E8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920240"/>
            <a:ext cx="54864" cy="59436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816" y="1975104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1E2761"/>
                </a:solidFill>
              </a:rPr>
              <a:t>https://frontend-els-741818216556.us-central1.run.app/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697480"/>
            <a:ext cx="9144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266090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F4B"/>
                </a:solidFill>
              </a:rPr>
              <a:t>Upload subscriber CSV or use the built-in leads dataset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008376"/>
            <a:ext cx="9144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2971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1A1F4B"/>
                </a:solidFill>
              </a:rPr>
              <a:t>Configure monthly sales target &amp; safeguard threshold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319272"/>
            <a:ext cx="9144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28269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F4B"/>
                </a:solidFill>
              </a:rPr>
              <a:t>Run ML scoring via FastAPI backend on Google Cloud Run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630168"/>
            <a:ext cx="9144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35935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F4B"/>
                </a:solidFill>
              </a:rPr>
              <a:t>Download Hot-Lead / Cold-Lead strategy as 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12801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FFFFF"/>
                </a:solidFill>
              </a:rPr>
              <a:t>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CADCFC"/>
                </a:solidFill>
              </a:rPr>
              <a:t>Try it now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1089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CADCFC"/>
                </a:solidFill>
              </a:rPr>
              <a:t>Deployed on
Google Cloud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2524</Words>
  <Application>Microsoft Macintosh PowerPoint</Application>
  <PresentationFormat>On-screen Show (16:9)</PresentationFormat>
  <Paragraphs>402</Paragraphs>
  <Slides>34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Email Lead Scoring Project</dc:title>
  <dc:subject>PptxGenJS Presentation</dc:subject>
  <dc:creator>Ella</dc:creator>
  <cp:lastModifiedBy>Ella Ndalla</cp:lastModifiedBy>
  <cp:revision>6</cp:revision>
  <dcterms:created xsi:type="dcterms:W3CDTF">2026-02-23T15:09:50Z</dcterms:created>
  <dcterms:modified xsi:type="dcterms:W3CDTF">2026-02-24T06:27:32Z</dcterms:modified>
</cp:coreProperties>
</file>